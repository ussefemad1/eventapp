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14" r:id="rId1"/>
  </p:sldMasterIdLst>
  <p:notesMasterIdLst>
    <p:notesMasterId r:id="rId13"/>
  </p:notesMasterIdLst>
  <p:sldIdLst>
    <p:sldId id="267" r:id="rId2"/>
    <p:sldId id="257" r:id="rId3"/>
    <p:sldId id="258" r:id="rId4"/>
    <p:sldId id="259" r:id="rId5"/>
    <p:sldId id="261" r:id="rId6"/>
    <p:sldId id="262" r:id="rId7"/>
    <p:sldId id="264" r:id="rId8"/>
    <p:sldId id="260" r:id="rId9"/>
    <p:sldId id="263" r:id="rId10"/>
    <p:sldId id="265" r:id="rId11"/>
    <p:sldId id="266" r:id="rId12"/>
  </p:sldIdLst>
  <p:sldSz cx="9144000" cy="5143500" type="screen16x9"/>
  <p:notesSz cx="5143500" cy="9144000"/>
  <p:embeddedFontLst>
    <p:embeddedFont>
      <p:font typeface="Calibri" panose="020F0502020204030204" pitchFamily="34" charset="0"/>
      <p:regular r:id="rId14"/>
      <p:bold r:id="rId15"/>
      <p:italic r:id="rId16"/>
      <p:boldItalic r:id="rId17"/>
    </p:embeddedFont>
    <p:embeddedFont>
      <p:font typeface="Kanit Light" panose="020B0604020202020204" charset="-34"/>
      <p:regular r:id="rId18"/>
    </p:embeddedFont>
    <p:embeddedFont>
      <p:font typeface="Martel Sans" panose="020B0604020202020204" charset="0"/>
      <p:regular r:id="rId19"/>
    </p:embeddedFont>
    <p:embeddedFont>
      <p:font typeface="Trebuchet MS" panose="020B0603020202020204" pitchFamily="34" charset="0"/>
      <p:regular r:id="rId20"/>
      <p:bold r:id="rId21"/>
      <p:italic r:id="rId22"/>
      <p:boldItalic r:id="rId23"/>
    </p:embeddedFont>
    <p:embeddedFont>
      <p:font typeface="Wingdings 3" panose="05040102010807070707" pitchFamily="18" charset="2"/>
      <p:regular r:id="rId2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2" d="100"/>
          <a:sy n="112" d="100"/>
        </p:scale>
        <p:origin x="61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2952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1803400"/>
            <a:ext cx="5825202" cy="1234727"/>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5354984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6867047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9682981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1620442"/>
            <a:ext cx="3138026" cy="2910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1620442"/>
            <a:ext cx="3138026" cy="2910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6/2/2026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308252890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6/2/2026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6101857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6/2/2026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5722807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6/2/2026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0590256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386193"/>
            <a:ext cx="3385156" cy="41448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6/2/2026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72626358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6/2/2026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7888225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7513888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latin typeface="Arial"/>
              </a:rPr>
              <a:t>”</a:t>
            </a:r>
            <a:endParaRPr lang="en-US" sz="1350" dirty="0">
              <a:solidFill>
                <a:schemeClr val="accent1">
                  <a:lumMod val="60000"/>
                  <a:lumOff val="40000"/>
                </a:schemeClr>
              </a:solidFill>
              <a:latin typeface="Arial"/>
            </a:endParaRPr>
          </a:p>
        </p:txBody>
      </p:sp>
    </p:spTree>
    <p:extLst>
      <p:ext uri="{BB962C8B-B14F-4D97-AF65-F5344CB8AC3E}">
        <p14:creationId xmlns:p14="http://schemas.microsoft.com/office/powerpoint/2010/main" val="107659254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4654560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7266866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1732735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209266830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081411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10987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432336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39961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58918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64928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94459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71994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98639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19431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457200"/>
            <a:ext cx="6447501" cy="9906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1620442"/>
            <a:ext cx="6447501" cy="29105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675">
                <a:solidFill>
                  <a:schemeClr val="tx1">
                    <a:tint val="75000"/>
                  </a:schemeClr>
                </a:solidFill>
              </a:defRPr>
            </a:lvl1pPr>
          </a:lstStyle>
          <a:p>
            <a:fld id="{B61BEF0D-F0BB-DE4B-95CE-6DB70DBA9567}" type="datetimeFigureOut">
              <a:rPr lang="en-US" smtClean="0"/>
              <a:pPr/>
              <a:t>6/2/2026</a:t>
            </a:fld>
            <a:endParaRPr lang="en-US" dirty="0"/>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91440" tIns="45720" rIns="91440" bIns="45720" rtlCol="0" anchor="ctr"/>
          <a:lstStyle>
            <a:lvl1pPr algn="r">
              <a:defRPr sz="675">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37591526"/>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Lst>
  <p:hf sldNum="0" hdr="0" ftr="0" dt="0"/>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Ussefemad1/eventapp"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Ussefemad1/eventapp" TargetMode="External"/><Relationship Id="rId2" Type="http://schemas.openxmlformats.org/officeDocument/2006/relationships/notesSlide" Target="../notesSlides/notesSlide9.xml"/><Relationship Id="rId1" Type="http://schemas.openxmlformats.org/officeDocument/2006/relationships/slideLayout" Target="../slideLayouts/slideLayout25.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59018-B550-4051-A88F-0CEEBDDD3318}"/>
              </a:ext>
            </a:extLst>
          </p:cNvPr>
          <p:cNvSpPr>
            <a:spLocks noGrp="1"/>
          </p:cNvSpPr>
          <p:nvPr>
            <p:ph type="ctrTitle"/>
          </p:nvPr>
        </p:nvSpPr>
        <p:spPr>
          <a:xfrm>
            <a:off x="-2912601" y="479567"/>
            <a:ext cx="5825202" cy="1234727"/>
          </a:xfrm>
        </p:spPr>
        <p:txBody>
          <a:bodyPr/>
          <a:lstStyle/>
          <a:p>
            <a:r>
              <a:rPr lang="en-US" dirty="0"/>
              <a:t>Eventify</a:t>
            </a:r>
          </a:p>
        </p:txBody>
      </p:sp>
      <p:sp>
        <p:nvSpPr>
          <p:cNvPr id="3" name="Subtitle 2">
            <a:extLst>
              <a:ext uri="{FF2B5EF4-FFF2-40B4-BE49-F238E27FC236}">
                <a16:creationId xmlns:a16="http://schemas.microsoft.com/office/drawing/2014/main" id="{FF75CBE2-C352-47E7-B853-1DCADFD00F62}"/>
              </a:ext>
            </a:extLst>
          </p:cNvPr>
          <p:cNvSpPr>
            <a:spLocks noGrp="1"/>
          </p:cNvSpPr>
          <p:nvPr>
            <p:ph type="subTitle" idx="1"/>
          </p:nvPr>
        </p:nvSpPr>
        <p:spPr>
          <a:xfrm>
            <a:off x="609795" y="1954912"/>
            <a:ext cx="5825202" cy="822674"/>
          </a:xfrm>
        </p:spPr>
        <p:txBody>
          <a:bodyPr>
            <a:normAutofit fontScale="25000" lnSpcReduction="20000"/>
          </a:bodyPr>
          <a:lstStyle/>
          <a:p>
            <a:pPr algn="l"/>
            <a:r>
              <a:rPr lang="en-US" sz="6400" dirty="0">
                <a:solidFill>
                  <a:srgbClr val="2C3249"/>
                </a:solidFill>
                <a:latin typeface="Martel Sans" pitchFamily="34" charset="0"/>
                <a:ea typeface="Martel Sans" pitchFamily="34" charset="-122"/>
                <a:cs typeface="Martel Sans" pitchFamily="34" charset="-120"/>
              </a:rPr>
              <a:t>A Full‑Stack Event Booking Web Application</a:t>
            </a:r>
          </a:p>
          <a:p>
            <a:pPr marL="0" indent="0" algn="l">
              <a:lnSpc>
                <a:spcPct val="133000"/>
              </a:lnSpc>
              <a:spcAft>
                <a:spcPts val="1050"/>
              </a:spcAft>
              <a:buNone/>
            </a:pPr>
            <a:r>
              <a:rPr lang="en-US" sz="5600" dirty="0">
                <a:solidFill>
                  <a:srgbClr val="2C3249"/>
                </a:solidFill>
                <a:latin typeface="Martel Sans" pitchFamily="34" charset="0"/>
                <a:ea typeface="Martel Sans" pitchFamily="34" charset="-122"/>
                <a:cs typeface="Martel Sans" pitchFamily="34" charset="-120"/>
              </a:rPr>
              <a:t>Presented by: Youssef Emad 221006764</a:t>
            </a:r>
          </a:p>
          <a:p>
            <a:pPr marL="0" indent="0" algn="l">
              <a:lnSpc>
                <a:spcPct val="133000"/>
              </a:lnSpc>
              <a:spcAft>
                <a:spcPts val="1050"/>
              </a:spcAft>
              <a:buNone/>
            </a:pPr>
            <a:r>
              <a:rPr lang="en-US" sz="5600" dirty="0">
                <a:solidFill>
                  <a:srgbClr val="2C3249"/>
                </a:solidFill>
                <a:latin typeface="Martel Sans" pitchFamily="34" charset="0"/>
                <a:ea typeface="Martel Sans" pitchFamily="34" charset="-122"/>
                <a:cs typeface="Martel Sans" pitchFamily="34" charset="-120"/>
              </a:rPr>
              <a:t>Mohamed Tamer 221004807</a:t>
            </a:r>
          </a:p>
          <a:p>
            <a:pPr marL="0" indent="0" algn="l">
              <a:lnSpc>
                <a:spcPct val="133000"/>
              </a:lnSpc>
              <a:spcAft>
                <a:spcPts val="1050"/>
              </a:spcAft>
              <a:buNone/>
            </a:pPr>
            <a:r>
              <a:rPr lang="en-US" sz="5600" dirty="0">
                <a:solidFill>
                  <a:srgbClr val="2C3249"/>
                </a:solidFill>
                <a:latin typeface="Martel Sans" pitchFamily="34" charset="0"/>
                <a:ea typeface="Martel Sans" pitchFamily="34" charset="-122"/>
                <a:cs typeface="Martel Sans" pitchFamily="34" charset="-120"/>
              </a:rPr>
              <a:t>Omar Khaled 221006032</a:t>
            </a:r>
            <a:endParaRPr lang="en-US" sz="5600" dirty="0"/>
          </a:p>
          <a:p>
            <a:pPr marL="0" indent="0" algn="l">
              <a:lnSpc>
                <a:spcPct val="133000"/>
              </a:lnSpc>
              <a:buNone/>
            </a:pPr>
            <a:r>
              <a:rPr lang="en-US" sz="5600" dirty="0">
                <a:solidFill>
                  <a:srgbClr val="2C3249"/>
                </a:solidFill>
                <a:latin typeface="Martel Sans" pitchFamily="34" charset="0"/>
                <a:ea typeface="Martel Sans" pitchFamily="34" charset="-122"/>
                <a:cs typeface="Martel Sans" pitchFamily="34" charset="-120"/>
              </a:rPr>
              <a:t>Project repository: </a:t>
            </a:r>
            <a:r>
              <a:rPr lang="en-US" sz="5600" u="sng" dirty="0">
                <a:solidFill>
                  <a:srgbClr val="437066"/>
                </a:solidFill>
                <a:latin typeface="Martel Sans" pitchFamily="34" charset="0"/>
                <a:ea typeface="Martel Sans" pitchFamily="34" charset="-122"/>
                <a:cs typeface="Martel Sans" pitchFamily="34" charset="-120"/>
                <a:hlinkClick r:id="rId2">
                  <a:extLst>
                    <a:ext uri="{A12FA001-AC4F-418D-AE19-62706E023703}">
                      <ahyp:hlinkClr xmlns:ahyp="http://schemas.microsoft.com/office/drawing/2018/hyperlinkcolor" val="tx"/>
                    </a:ext>
                  </a:extLst>
                </a:hlinkClick>
              </a:rPr>
              <a:t>github.com/Ussefemad1/</a:t>
            </a:r>
            <a:r>
              <a:rPr lang="en-US" sz="5600" u="sng" dirty="0" err="1">
                <a:solidFill>
                  <a:srgbClr val="437066"/>
                </a:solidFill>
                <a:latin typeface="Martel Sans" pitchFamily="34" charset="0"/>
                <a:ea typeface="Martel Sans" pitchFamily="34" charset="-122"/>
                <a:cs typeface="Martel Sans" pitchFamily="34" charset="-120"/>
                <a:hlinkClick r:id="rId2">
                  <a:extLst>
                    <a:ext uri="{A12FA001-AC4F-418D-AE19-62706E023703}">
                      <ahyp:hlinkClr xmlns:ahyp="http://schemas.microsoft.com/office/drawing/2018/hyperlinkcolor" val="tx"/>
                    </a:ext>
                  </a:extLst>
                </a:hlinkClick>
              </a:rPr>
              <a:t>eventapp</a:t>
            </a:r>
            <a:endParaRPr lang="en-US" sz="5600" dirty="0"/>
          </a:p>
          <a:p>
            <a:endParaRPr lang="en-US" sz="1400" dirty="0"/>
          </a:p>
          <a:p>
            <a:endParaRPr lang="en-US" dirty="0"/>
          </a:p>
        </p:txBody>
      </p:sp>
    </p:spTree>
    <p:extLst>
      <p:ext uri="{BB962C8B-B14F-4D97-AF65-F5344CB8AC3E}">
        <p14:creationId xmlns:p14="http://schemas.microsoft.com/office/powerpoint/2010/main" val="1080977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80447" y="768258"/>
            <a:ext cx="2938090" cy="310083"/>
          </a:xfrm>
          <a:prstGeom prst="rect">
            <a:avLst/>
          </a:prstGeom>
          <a:noFill/>
          <a:ln/>
        </p:spPr>
        <p:txBody>
          <a:bodyPr wrap="none" lIns="0" tIns="0" rIns="0" bIns="0" rtlCol="0" anchor="t"/>
          <a:lstStyle/>
          <a:p>
            <a:pPr marL="0" indent="0" algn="l">
              <a:lnSpc>
                <a:spcPct val="104000"/>
              </a:lnSpc>
              <a:buNone/>
            </a:pPr>
            <a:r>
              <a:rPr lang="en-US" sz="1950" dirty="0">
                <a:solidFill>
                  <a:srgbClr val="272D45"/>
                </a:solidFill>
                <a:latin typeface="Kanit Light" pitchFamily="34" charset="0"/>
                <a:ea typeface="Kanit Light" pitchFamily="34" charset="-122"/>
                <a:cs typeface="Kanit Light" pitchFamily="34" charset="-120"/>
              </a:rPr>
              <a:t>The Problem</a:t>
            </a:r>
            <a:endParaRPr lang="en-US" sz="1950" dirty="0"/>
          </a:p>
        </p:txBody>
      </p:sp>
      <p:sp>
        <p:nvSpPr>
          <p:cNvPr id="3" name="Text 1"/>
          <p:cNvSpPr/>
          <p:nvPr/>
        </p:nvSpPr>
        <p:spPr>
          <a:xfrm>
            <a:off x="480447" y="1214652"/>
            <a:ext cx="8167435" cy="1212066"/>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C3249"/>
                </a:solidFill>
                <a:latin typeface="Martel Sans" pitchFamily="34" charset="0"/>
                <a:ea typeface="Martel Sans" pitchFamily="34" charset="-122"/>
                <a:cs typeface="Martel Sans" pitchFamily="34" charset="-120"/>
              </a:rPr>
              <a:t> Event organisers and attendees lack a unified, reliable platform for listing, discovering and transacting event tickets. Current pain points include missing seat control, fragmented discovery, manual or absent ticket issuance, untracked cash workflows, and poor admin visibility into revenue and attendance in real time. </a:t>
            </a:r>
            <a:endParaRPr lang="en-US" sz="950" dirty="0"/>
          </a:p>
        </p:txBody>
      </p:sp>
      <p:sp>
        <p:nvSpPr>
          <p:cNvPr id="4" name="Shape 2"/>
          <p:cNvSpPr/>
          <p:nvPr/>
        </p:nvSpPr>
        <p:spPr>
          <a:xfrm>
            <a:off x="496119" y="2632137"/>
            <a:ext cx="61987" cy="61987"/>
          </a:xfrm>
          <a:prstGeom prst="roundRect">
            <a:avLst>
              <a:gd name="adj" fmla="val 460984"/>
            </a:avLst>
          </a:prstGeom>
          <a:solidFill>
            <a:srgbClr val="437066"/>
          </a:solidFill>
          <a:ln/>
        </p:spPr>
      </p:sp>
      <p:sp>
        <p:nvSpPr>
          <p:cNvPr id="5" name="Text 3"/>
          <p:cNvSpPr/>
          <p:nvPr/>
        </p:nvSpPr>
        <p:spPr>
          <a:xfrm>
            <a:off x="682079" y="2566243"/>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2C3249"/>
                </a:solidFill>
                <a:latin typeface="Kanit Light" pitchFamily="34" charset="0"/>
                <a:ea typeface="Kanit Light" pitchFamily="34" charset="-122"/>
                <a:cs typeface="Kanit Light" pitchFamily="34" charset="-120"/>
              </a:rPr>
              <a:t>Organiser challenges</a:t>
            </a:r>
            <a:endParaRPr lang="en-US" sz="1200" dirty="0"/>
          </a:p>
        </p:txBody>
      </p:sp>
      <p:sp>
        <p:nvSpPr>
          <p:cNvPr id="6" name="Text 4"/>
          <p:cNvSpPr/>
          <p:nvPr/>
        </p:nvSpPr>
        <p:spPr>
          <a:xfrm>
            <a:off x="682079" y="2834506"/>
            <a:ext cx="2427908" cy="837233"/>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2C3249"/>
                </a:solidFill>
                <a:latin typeface="Martel Sans" pitchFamily="34" charset="0"/>
                <a:ea typeface="Martel Sans" pitchFamily="34" charset="-122"/>
                <a:cs typeface="Martel Sans" pitchFamily="34" charset="-120"/>
              </a:rPr>
              <a:t>No centralised event listing with seat management</a:t>
            </a:r>
            <a:endParaRPr lang="en-US" sz="950" dirty="0"/>
          </a:p>
          <a:p>
            <a:pPr marL="342900" indent="-342900" algn="l">
              <a:lnSpc>
                <a:spcPct val="133000"/>
              </a:lnSpc>
              <a:buSzPct val="100000"/>
              <a:buChar char="•"/>
            </a:pPr>
            <a:r>
              <a:rPr lang="en-US" sz="950" dirty="0">
                <a:solidFill>
                  <a:srgbClr val="2C3249"/>
                </a:solidFill>
                <a:latin typeface="Martel Sans" pitchFamily="34" charset="0"/>
                <a:ea typeface="Martel Sans" pitchFamily="34" charset="-122"/>
                <a:cs typeface="Martel Sans" pitchFamily="34" charset="-120"/>
              </a:rPr>
              <a:t>Limited real‑time visibility into bookings and revenue</a:t>
            </a:r>
            <a:endParaRPr lang="en-US" sz="950" dirty="0"/>
          </a:p>
        </p:txBody>
      </p:sp>
      <p:sp>
        <p:nvSpPr>
          <p:cNvPr id="7" name="Shape 5"/>
          <p:cNvSpPr/>
          <p:nvPr/>
        </p:nvSpPr>
        <p:spPr>
          <a:xfrm>
            <a:off x="3264991" y="2632137"/>
            <a:ext cx="61987" cy="61987"/>
          </a:xfrm>
          <a:prstGeom prst="roundRect">
            <a:avLst>
              <a:gd name="adj" fmla="val 460984"/>
            </a:avLst>
          </a:prstGeom>
          <a:solidFill>
            <a:srgbClr val="437066"/>
          </a:solidFill>
          <a:ln/>
        </p:spPr>
      </p:sp>
      <p:sp>
        <p:nvSpPr>
          <p:cNvPr id="8" name="Text 6"/>
          <p:cNvSpPr/>
          <p:nvPr/>
        </p:nvSpPr>
        <p:spPr>
          <a:xfrm>
            <a:off x="3450952" y="2566243"/>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2C3249"/>
                </a:solidFill>
                <a:latin typeface="Kanit Light" pitchFamily="34" charset="0"/>
                <a:ea typeface="Kanit Light" pitchFamily="34" charset="-122"/>
                <a:cs typeface="Kanit Light" pitchFamily="34" charset="-120"/>
              </a:rPr>
              <a:t>Attendee challenges</a:t>
            </a:r>
            <a:endParaRPr lang="en-US" sz="1200" dirty="0"/>
          </a:p>
        </p:txBody>
      </p:sp>
      <p:sp>
        <p:nvSpPr>
          <p:cNvPr id="9" name="Text 7"/>
          <p:cNvSpPr/>
          <p:nvPr/>
        </p:nvSpPr>
        <p:spPr>
          <a:xfrm>
            <a:off x="3450952" y="2834506"/>
            <a:ext cx="2427982" cy="837233"/>
          </a:xfrm>
          <a:prstGeom prst="rect">
            <a:avLst/>
          </a:prstGeom>
          <a:noFill/>
          <a:ln/>
        </p:spPr>
        <p:txBody>
          <a:bodyPr wrap="square" lIns="0" tIns="0" rIns="0" bIns="0" rtlCol="0" anchor="t">
            <a:normAutofit fontScale="92500"/>
          </a:bodyPr>
          <a:lstStyle/>
          <a:p>
            <a:pPr marL="342900" indent="-342900" algn="l">
              <a:lnSpc>
                <a:spcPct val="133000"/>
              </a:lnSpc>
              <a:buSzPct val="100000"/>
              <a:buChar char="•"/>
            </a:pPr>
            <a:r>
              <a:rPr lang="en-US" sz="950" dirty="0">
                <a:solidFill>
                  <a:srgbClr val="2C3249"/>
                </a:solidFill>
                <a:latin typeface="Martel Sans" pitchFamily="34" charset="0"/>
                <a:ea typeface="Martel Sans" pitchFamily="34" charset="-122"/>
                <a:cs typeface="Martel Sans" pitchFamily="34" charset="-120"/>
              </a:rPr>
              <a:t>Difficulty discovering, filtering and booking events online</a:t>
            </a:r>
            <a:endParaRPr lang="en-US" sz="950" dirty="0"/>
          </a:p>
          <a:p>
            <a:pPr marL="342900" indent="-342900" algn="l">
              <a:lnSpc>
                <a:spcPct val="133000"/>
              </a:lnSpc>
              <a:buSzPct val="100000"/>
              <a:buChar char="•"/>
            </a:pPr>
            <a:r>
              <a:rPr lang="en-US" sz="950" dirty="0">
                <a:solidFill>
                  <a:srgbClr val="2C3249"/>
                </a:solidFill>
                <a:latin typeface="Martel Sans" pitchFamily="34" charset="0"/>
                <a:ea typeface="Martel Sans" pitchFamily="34" charset="-122"/>
                <a:cs typeface="Martel Sans" pitchFamily="34" charset="-120"/>
              </a:rPr>
              <a:t>Manual ticketing with no automated confirmations or QR codes</a:t>
            </a:r>
            <a:endParaRPr lang="en-US" sz="950" dirty="0"/>
          </a:p>
        </p:txBody>
      </p:sp>
      <p:sp>
        <p:nvSpPr>
          <p:cNvPr id="10" name="Shape 8"/>
          <p:cNvSpPr/>
          <p:nvPr/>
        </p:nvSpPr>
        <p:spPr>
          <a:xfrm>
            <a:off x="6033939" y="2632137"/>
            <a:ext cx="61987" cy="61987"/>
          </a:xfrm>
          <a:prstGeom prst="roundRect">
            <a:avLst>
              <a:gd name="adj" fmla="val 460984"/>
            </a:avLst>
          </a:prstGeom>
          <a:solidFill>
            <a:srgbClr val="437066"/>
          </a:solidFill>
          <a:ln/>
        </p:spPr>
      </p:sp>
      <p:sp>
        <p:nvSpPr>
          <p:cNvPr id="11" name="Text 9"/>
          <p:cNvSpPr/>
          <p:nvPr/>
        </p:nvSpPr>
        <p:spPr>
          <a:xfrm>
            <a:off x="6219899" y="2566243"/>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2C3249"/>
                </a:solidFill>
                <a:latin typeface="Kanit Light" pitchFamily="34" charset="0"/>
                <a:ea typeface="Kanit Light" pitchFamily="34" charset="-122"/>
                <a:cs typeface="Kanit Light" pitchFamily="34" charset="-120"/>
              </a:rPr>
              <a:t>Payment &amp; operations</a:t>
            </a:r>
            <a:endParaRPr lang="en-US" sz="1200" dirty="0"/>
          </a:p>
        </p:txBody>
      </p:sp>
      <p:sp>
        <p:nvSpPr>
          <p:cNvPr id="12" name="Text 10"/>
          <p:cNvSpPr/>
          <p:nvPr/>
        </p:nvSpPr>
        <p:spPr>
          <a:xfrm>
            <a:off x="6219899" y="2834506"/>
            <a:ext cx="2427982" cy="1035695"/>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2C3249"/>
                </a:solidFill>
                <a:latin typeface="Martel Sans" pitchFamily="34" charset="0"/>
                <a:ea typeface="Martel Sans" pitchFamily="34" charset="-122"/>
                <a:cs typeface="Martel Sans" pitchFamily="34" charset="-120"/>
              </a:rPr>
              <a:t>Cash payments lack tracking and verification</a:t>
            </a:r>
            <a:endParaRPr lang="en-US" sz="950" dirty="0"/>
          </a:p>
          <a:p>
            <a:pPr marL="342900" indent="-342900" algn="l">
              <a:lnSpc>
                <a:spcPct val="133000"/>
              </a:lnSpc>
              <a:buSzPct val="100000"/>
              <a:buChar char="•"/>
            </a:pPr>
            <a:r>
              <a:rPr lang="en-US" sz="950" dirty="0">
                <a:solidFill>
                  <a:srgbClr val="2C3249"/>
                </a:solidFill>
                <a:latin typeface="Martel Sans" pitchFamily="34" charset="0"/>
                <a:ea typeface="Martel Sans" pitchFamily="34" charset="-122"/>
                <a:cs typeface="Martel Sans" pitchFamily="34" charset="-120"/>
              </a:rPr>
              <a:t>Admin tools for refunds, pending payments and seat management are missing</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1394147"/>
            <a:ext cx="3054474" cy="310083"/>
          </a:xfrm>
          <a:prstGeom prst="rect">
            <a:avLst/>
          </a:prstGeom>
          <a:noFill/>
          <a:ln/>
        </p:spPr>
        <p:txBody>
          <a:bodyPr wrap="none" lIns="0" tIns="0" rIns="0" bIns="0" rtlCol="0" anchor="t"/>
          <a:lstStyle/>
          <a:p>
            <a:pPr marL="0" indent="0" algn="l">
              <a:lnSpc>
                <a:spcPct val="104000"/>
              </a:lnSpc>
              <a:buNone/>
            </a:pPr>
            <a:r>
              <a:rPr lang="en-US" sz="1950" dirty="0">
                <a:solidFill>
                  <a:srgbClr val="272D45"/>
                </a:solidFill>
                <a:latin typeface="Kanit Light" pitchFamily="34" charset="0"/>
                <a:ea typeface="Kanit Light" pitchFamily="34" charset="-122"/>
                <a:cs typeface="Kanit Light" pitchFamily="34" charset="-120"/>
              </a:rPr>
              <a:t>Our Solution — Eventify</a:t>
            </a:r>
            <a:endParaRPr lang="en-US" sz="1950" dirty="0"/>
          </a:p>
        </p:txBody>
      </p:sp>
      <p:sp>
        <p:nvSpPr>
          <p:cNvPr id="3" name="Text 1"/>
          <p:cNvSpPr/>
          <p:nvPr/>
        </p:nvSpPr>
        <p:spPr>
          <a:xfrm>
            <a:off x="496119" y="1952253"/>
            <a:ext cx="815176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C3249"/>
                </a:solidFill>
                <a:latin typeface="Martel Sans" pitchFamily="34" charset="0"/>
                <a:ea typeface="Martel Sans" pitchFamily="34" charset="-122"/>
                <a:cs typeface="Martel Sans" pitchFamily="34" charset="-120"/>
              </a:rPr>
              <a:t> Eventify provides a secure, full‑stack web platform where admins create and manage events and users discover, filter and book tickets. The system automates ticket issuance (QR), supports both cash and card payments with clear workflows, and exposes an admin dashboard with live operational metrics. </a:t>
            </a:r>
            <a:endParaRPr lang="en-US" sz="9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2687166"/>
            <a:ext cx="310083" cy="310083"/>
          </a:xfrm>
          <a:prstGeom prst="rect">
            <a:avLst/>
          </a:prstGeom>
        </p:spPr>
      </p:pic>
      <p:sp>
        <p:nvSpPr>
          <p:cNvPr id="5" name="Text 2"/>
          <p:cNvSpPr/>
          <p:nvPr/>
        </p:nvSpPr>
        <p:spPr>
          <a:xfrm>
            <a:off x="961206" y="2687166"/>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2C3249"/>
                </a:solidFill>
                <a:latin typeface="Kanit Light" pitchFamily="34" charset="0"/>
                <a:ea typeface="Kanit Light" pitchFamily="34" charset="-122"/>
                <a:cs typeface="Kanit Light" pitchFamily="34" charset="-120"/>
              </a:rPr>
              <a:t>Secure authentication</a:t>
            </a:r>
            <a:endParaRPr lang="en-US" sz="1200" dirty="0"/>
          </a:p>
        </p:txBody>
      </p:sp>
      <p:sp>
        <p:nvSpPr>
          <p:cNvPr id="6" name="Text 3"/>
          <p:cNvSpPr/>
          <p:nvPr/>
        </p:nvSpPr>
        <p:spPr>
          <a:xfrm>
            <a:off x="961206" y="2955429"/>
            <a:ext cx="2148780"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C3249"/>
                </a:solidFill>
                <a:latin typeface="Martel Sans" pitchFamily="34" charset="0"/>
                <a:ea typeface="Martel Sans" pitchFamily="34" charset="-122"/>
                <a:cs typeface="Martel Sans" pitchFamily="34" charset="-120"/>
              </a:rPr>
              <a:t>JWT tokens with role‑based access and OTP email verification to ensure account authenticity.</a:t>
            </a:r>
            <a:endParaRPr lang="en-US" sz="950" dirty="0"/>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3264991" y="2687166"/>
            <a:ext cx="310083" cy="310083"/>
          </a:xfrm>
          <a:prstGeom prst="rect">
            <a:avLst/>
          </a:prstGeom>
        </p:spPr>
      </p:pic>
      <p:sp>
        <p:nvSpPr>
          <p:cNvPr id="8" name="Text 4"/>
          <p:cNvSpPr/>
          <p:nvPr/>
        </p:nvSpPr>
        <p:spPr>
          <a:xfrm>
            <a:off x="3730079" y="2687166"/>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2C3249"/>
                </a:solidFill>
                <a:latin typeface="Kanit Light" pitchFamily="34" charset="0"/>
                <a:ea typeface="Kanit Light" pitchFamily="34" charset="-122"/>
                <a:cs typeface="Kanit Light" pitchFamily="34" charset="-120"/>
              </a:rPr>
              <a:t>Automated tickets</a:t>
            </a:r>
            <a:endParaRPr lang="en-US" sz="1200" dirty="0"/>
          </a:p>
        </p:txBody>
      </p:sp>
      <p:sp>
        <p:nvSpPr>
          <p:cNvPr id="9" name="Text 5"/>
          <p:cNvSpPr/>
          <p:nvPr/>
        </p:nvSpPr>
        <p:spPr>
          <a:xfrm>
            <a:off x="3730079" y="2955429"/>
            <a:ext cx="2148855"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C3249"/>
                </a:solidFill>
                <a:latin typeface="Martel Sans" pitchFamily="34" charset="0"/>
                <a:ea typeface="Martel Sans" pitchFamily="34" charset="-122"/>
                <a:cs typeface="Martel Sans" pitchFamily="34" charset="-120"/>
              </a:rPr>
              <a:t>JWT‑signed ticket tokens converted to QR PNGs and emailed automatically upon confirmed bookings.</a:t>
            </a:r>
            <a:endParaRPr lang="en-US" sz="950" dirty="0"/>
          </a:p>
        </p:txBody>
      </p:sp>
      <p:pic>
        <p:nvPicPr>
          <p:cNvPr id="10" name="Image 2" descr="preencoded.png"/>
          <p:cNvPicPr>
            <a:picLocks noChangeAspect="1"/>
          </p:cNvPicPr>
          <p:nvPr/>
        </p:nvPicPr>
        <p:blipFill>
          <a:blip r:embed="rId3">
            <a:extLst>
              <a:ext uri="{96DAC541-7B7A-43D3-8B79-37D633B846F1}">
                <asvg:svgBlip xmlns:asvg="http://schemas.microsoft.com/office/drawing/2016/SVG/main" r:embed="rId6"/>
              </a:ext>
            </a:extLst>
          </a:blip>
          <a:stretch>
            <a:fillRect/>
          </a:stretch>
        </p:blipFill>
        <p:spPr>
          <a:xfrm>
            <a:off x="6033939" y="2687166"/>
            <a:ext cx="310083" cy="310083"/>
          </a:xfrm>
          <a:prstGeom prst="rect">
            <a:avLst/>
          </a:prstGeom>
        </p:spPr>
      </p:pic>
      <p:sp>
        <p:nvSpPr>
          <p:cNvPr id="11" name="Text 6"/>
          <p:cNvSpPr/>
          <p:nvPr/>
        </p:nvSpPr>
        <p:spPr>
          <a:xfrm>
            <a:off x="6499027" y="2687166"/>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2C3249"/>
                </a:solidFill>
                <a:latin typeface="Kanit Light" pitchFamily="34" charset="0"/>
                <a:ea typeface="Kanit Light" pitchFamily="34" charset="-122"/>
                <a:cs typeface="Kanit Light" pitchFamily="34" charset="-120"/>
              </a:rPr>
              <a:t>Admin visibility</a:t>
            </a:r>
            <a:endParaRPr lang="en-US" sz="1200" dirty="0"/>
          </a:p>
        </p:txBody>
      </p:sp>
      <p:sp>
        <p:nvSpPr>
          <p:cNvPr id="12" name="Text 7"/>
          <p:cNvSpPr/>
          <p:nvPr/>
        </p:nvSpPr>
        <p:spPr>
          <a:xfrm>
            <a:off x="6499027" y="2955429"/>
            <a:ext cx="2148855"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C3249"/>
                </a:solidFill>
                <a:latin typeface="Martel Sans" pitchFamily="34" charset="0"/>
                <a:ea typeface="Martel Sans" pitchFamily="34" charset="-122"/>
                <a:cs typeface="Martel Sans" pitchFamily="34" charset="-120"/>
              </a:rPr>
              <a:t>Live dashboard: revenue, bookings, seat availability, low‑seat warnings and pending cash payments.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41871" y="315813"/>
            <a:ext cx="2761208" cy="276151"/>
          </a:xfrm>
          <a:prstGeom prst="rect">
            <a:avLst/>
          </a:prstGeom>
          <a:noFill/>
          <a:ln/>
        </p:spPr>
        <p:txBody>
          <a:bodyPr wrap="none" lIns="0" tIns="0" rIns="0" bIns="0" rtlCol="0" anchor="t"/>
          <a:lstStyle/>
          <a:p>
            <a:pPr marL="0" indent="0" algn="l">
              <a:lnSpc>
                <a:spcPct val="104000"/>
              </a:lnSpc>
              <a:buNone/>
            </a:pPr>
            <a:r>
              <a:rPr lang="en-US" sz="1700" dirty="0">
                <a:solidFill>
                  <a:srgbClr val="272D45"/>
                </a:solidFill>
                <a:latin typeface="Kanit Light" pitchFamily="34" charset="0"/>
                <a:ea typeface="Kanit Light" pitchFamily="34" charset="-122"/>
                <a:cs typeface="Kanit Light" pitchFamily="34" charset="-120"/>
              </a:rPr>
              <a:t>Team &amp; Responsibilities</a:t>
            </a:r>
            <a:endParaRPr lang="en-US" sz="1700" dirty="0"/>
          </a:p>
        </p:txBody>
      </p:sp>
      <p:sp>
        <p:nvSpPr>
          <p:cNvPr id="3" name="Text 1"/>
          <p:cNvSpPr/>
          <p:nvPr/>
        </p:nvSpPr>
        <p:spPr>
          <a:xfrm>
            <a:off x="441871" y="788715"/>
            <a:ext cx="8260259" cy="334268"/>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2C3249"/>
                </a:solidFill>
                <a:latin typeface="Martel Sans" pitchFamily="34" charset="0"/>
                <a:ea typeface="Martel Sans" pitchFamily="34" charset="-122"/>
                <a:cs typeface="Martel Sans" pitchFamily="34" charset="-120"/>
              </a:rPr>
              <a:t> Work was split into focused responsibilities to parallelise development and enforce ownership. Below is the concise task organisation and the technical responsibilities each team member owned or collaborated on. </a:t>
            </a:r>
            <a:endParaRPr lang="en-US" sz="850" dirty="0"/>
          </a:p>
        </p:txBody>
      </p:sp>
      <p:sp>
        <p:nvSpPr>
          <p:cNvPr id="4" name="Shape 2"/>
          <p:cNvSpPr/>
          <p:nvPr/>
        </p:nvSpPr>
        <p:spPr>
          <a:xfrm>
            <a:off x="441871" y="1399282"/>
            <a:ext cx="4080942" cy="966788"/>
          </a:xfrm>
          <a:prstGeom prst="roundRect">
            <a:avLst>
              <a:gd name="adj" fmla="val 7094"/>
            </a:avLst>
          </a:prstGeom>
          <a:solidFill>
            <a:srgbClr val="FFFFFF"/>
          </a:solidFill>
          <a:ln w="14288">
            <a:solidFill>
              <a:srgbClr val="C5D2CF"/>
            </a:solidFill>
            <a:prstDash val="solid"/>
          </a:ln>
        </p:spPr>
      </p:sp>
      <p:sp>
        <p:nvSpPr>
          <p:cNvPr id="5" name="Shape 3"/>
          <p:cNvSpPr/>
          <p:nvPr/>
        </p:nvSpPr>
        <p:spPr>
          <a:xfrm>
            <a:off x="441871" y="1384995"/>
            <a:ext cx="4080942" cy="57150"/>
          </a:xfrm>
          <a:prstGeom prst="roundRect">
            <a:avLst>
              <a:gd name="adj" fmla="val 81192"/>
            </a:avLst>
          </a:prstGeom>
          <a:solidFill>
            <a:srgbClr val="437066"/>
          </a:solidFill>
          <a:ln/>
        </p:spPr>
      </p:sp>
      <p:sp>
        <p:nvSpPr>
          <p:cNvPr id="6" name="Shape 4"/>
          <p:cNvSpPr/>
          <p:nvPr/>
        </p:nvSpPr>
        <p:spPr>
          <a:xfrm>
            <a:off x="2316621" y="1233636"/>
            <a:ext cx="331366" cy="331366"/>
          </a:xfrm>
          <a:prstGeom prst="roundRect">
            <a:avLst>
              <a:gd name="adj" fmla="val 172468"/>
            </a:avLst>
          </a:prstGeom>
          <a:solidFill>
            <a:srgbClr val="437066"/>
          </a:solidFill>
          <a:ln/>
        </p:spPr>
      </p:sp>
      <p:sp>
        <p:nvSpPr>
          <p:cNvPr id="7" name="Text 5"/>
          <p:cNvSpPr/>
          <p:nvPr/>
        </p:nvSpPr>
        <p:spPr>
          <a:xfrm>
            <a:off x="2416039" y="1316459"/>
            <a:ext cx="132531" cy="165646"/>
          </a:xfrm>
          <a:prstGeom prst="rect">
            <a:avLst/>
          </a:prstGeom>
          <a:noFill/>
          <a:ln/>
        </p:spPr>
        <p:txBody>
          <a:bodyPr wrap="none" lIns="0" tIns="0" rIns="0" bIns="0" rtlCol="0" anchor="ctr"/>
          <a:lstStyle/>
          <a:p>
            <a:pPr marL="0" indent="0" algn="ctr">
              <a:lnSpc>
                <a:spcPct val="100000"/>
              </a:lnSpc>
              <a:buNone/>
            </a:pPr>
            <a:r>
              <a:rPr lang="en-US" sz="1000" dirty="0">
                <a:solidFill>
                  <a:srgbClr val="FFFFFF"/>
                </a:solidFill>
                <a:latin typeface="Kanit Light" pitchFamily="34" charset="0"/>
                <a:ea typeface="Kanit Light" pitchFamily="34" charset="-122"/>
                <a:cs typeface="Kanit Light" pitchFamily="34" charset="-120"/>
              </a:rPr>
              <a:t>1</a:t>
            </a:r>
            <a:endParaRPr lang="en-US" sz="1000" dirty="0"/>
          </a:p>
        </p:txBody>
      </p:sp>
      <p:sp>
        <p:nvSpPr>
          <p:cNvPr id="8" name="Text 6"/>
          <p:cNvSpPr/>
          <p:nvPr/>
        </p:nvSpPr>
        <p:spPr>
          <a:xfrm>
            <a:off x="566589" y="1675433"/>
            <a:ext cx="1380976" cy="172641"/>
          </a:xfrm>
          <a:prstGeom prst="rect">
            <a:avLst/>
          </a:prstGeom>
          <a:noFill/>
          <a:ln/>
        </p:spPr>
        <p:txBody>
          <a:bodyPr wrap="none" lIns="0" tIns="0" rIns="0" bIns="0" rtlCol="0" anchor="t"/>
          <a:lstStyle/>
          <a:p>
            <a:pPr marL="0" indent="0" algn="l">
              <a:lnSpc>
                <a:spcPct val="104000"/>
              </a:lnSpc>
              <a:buNone/>
            </a:pPr>
            <a:r>
              <a:rPr lang="en-US" sz="1050" dirty="0">
                <a:solidFill>
                  <a:srgbClr val="2C3249"/>
                </a:solidFill>
                <a:latin typeface="Kanit Light" pitchFamily="34" charset="0"/>
                <a:ea typeface="Kanit Light" pitchFamily="34" charset="-122"/>
                <a:cs typeface="Kanit Light" pitchFamily="34" charset="-120"/>
              </a:rPr>
              <a:t>Backend / API</a:t>
            </a:r>
            <a:endParaRPr lang="en-US" sz="1050" dirty="0"/>
          </a:p>
        </p:txBody>
      </p:sp>
      <p:sp>
        <p:nvSpPr>
          <p:cNvPr id="9" name="Text 7"/>
          <p:cNvSpPr/>
          <p:nvPr/>
        </p:nvSpPr>
        <p:spPr>
          <a:xfrm>
            <a:off x="566589" y="1907084"/>
            <a:ext cx="3831506" cy="334268"/>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2C3249"/>
                </a:solidFill>
                <a:latin typeface="Martel Sans" pitchFamily="34" charset="0"/>
                <a:ea typeface="Martel Sans" pitchFamily="34" charset="-122"/>
                <a:cs typeface="Martel Sans" pitchFamily="34" charset="-120"/>
              </a:rPr>
              <a:t>Express.js REST API, Mongoose models, structured routes and JWT auth middleware.</a:t>
            </a:r>
            <a:endParaRPr lang="en-US" sz="850" dirty="0"/>
          </a:p>
        </p:txBody>
      </p:sp>
      <p:sp>
        <p:nvSpPr>
          <p:cNvPr id="10" name="Shape 8"/>
          <p:cNvSpPr/>
          <p:nvPr/>
        </p:nvSpPr>
        <p:spPr>
          <a:xfrm>
            <a:off x="4621188" y="1399282"/>
            <a:ext cx="4080942" cy="966788"/>
          </a:xfrm>
          <a:prstGeom prst="roundRect">
            <a:avLst>
              <a:gd name="adj" fmla="val 7094"/>
            </a:avLst>
          </a:prstGeom>
          <a:solidFill>
            <a:srgbClr val="FFFFFF"/>
          </a:solidFill>
          <a:ln w="14288">
            <a:solidFill>
              <a:srgbClr val="C5D2CF"/>
            </a:solidFill>
            <a:prstDash val="solid"/>
          </a:ln>
        </p:spPr>
      </p:sp>
      <p:sp>
        <p:nvSpPr>
          <p:cNvPr id="11" name="Shape 9"/>
          <p:cNvSpPr/>
          <p:nvPr/>
        </p:nvSpPr>
        <p:spPr>
          <a:xfrm>
            <a:off x="4621188" y="1384995"/>
            <a:ext cx="4080942" cy="57150"/>
          </a:xfrm>
          <a:prstGeom prst="roundRect">
            <a:avLst>
              <a:gd name="adj" fmla="val 81192"/>
            </a:avLst>
          </a:prstGeom>
          <a:solidFill>
            <a:srgbClr val="437066"/>
          </a:solidFill>
          <a:ln/>
        </p:spPr>
      </p:sp>
      <p:sp>
        <p:nvSpPr>
          <p:cNvPr id="12" name="Shape 10"/>
          <p:cNvSpPr/>
          <p:nvPr/>
        </p:nvSpPr>
        <p:spPr>
          <a:xfrm>
            <a:off x="6495938" y="1233636"/>
            <a:ext cx="331366" cy="331366"/>
          </a:xfrm>
          <a:prstGeom prst="roundRect">
            <a:avLst>
              <a:gd name="adj" fmla="val 172468"/>
            </a:avLst>
          </a:prstGeom>
          <a:solidFill>
            <a:srgbClr val="437066"/>
          </a:solidFill>
          <a:ln/>
        </p:spPr>
      </p:sp>
      <p:sp>
        <p:nvSpPr>
          <p:cNvPr id="13" name="Text 11"/>
          <p:cNvSpPr/>
          <p:nvPr/>
        </p:nvSpPr>
        <p:spPr>
          <a:xfrm>
            <a:off x="6595356" y="1316459"/>
            <a:ext cx="132531" cy="165646"/>
          </a:xfrm>
          <a:prstGeom prst="rect">
            <a:avLst/>
          </a:prstGeom>
          <a:noFill/>
          <a:ln/>
        </p:spPr>
        <p:txBody>
          <a:bodyPr wrap="none" lIns="0" tIns="0" rIns="0" bIns="0" rtlCol="0" anchor="ctr"/>
          <a:lstStyle/>
          <a:p>
            <a:pPr marL="0" indent="0" algn="ctr">
              <a:lnSpc>
                <a:spcPct val="100000"/>
              </a:lnSpc>
              <a:buNone/>
            </a:pPr>
            <a:r>
              <a:rPr lang="en-US" sz="1000" dirty="0">
                <a:solidFill>
                  <a:srgbClr val="FFFFFF"/>
                </a:solidFill>
                <a:latin typeface="Kanit Light" pitchFamily="34" charset="0"/>
                <a:ea typeface="Kanit Light" pitchFamily="34" charset="-122"/>
                <a:cs typeface="Kanit Light" pitchFamily="34" charset="-120"/>
              </a:rPr>
              <a:t>2</a:t>
            </a:r>
            <a:endParaRPr lang="en-US" sz="1000" dirty="0"/>
          </a:p>
        </p:txBody>
      </p:sp>
      <p:sp>
        <p:nvSpPr>
          <p:cNvPr id="14" name="Text 12"/>
          <p:cNvSpPr/>
          <p:nvPr/>
        </p:nvSpPr>
        <p:spPr>
          <a:xfrm>
            <a:off x="4745906" y="1675433"/>
            <a:ext cx="1380976" cy="172641"/>
          </a:xfrm>
          <a:prstGeom prst="rect">
            <a:avLst/>
          </a:prstGeom>
          <a:noFill/>
          <a:ln/>
        </p:spPr>
        <p:txBody>
          <a:bodyPr wrap="none" lIns="0" tIns="0" rIns="0" bIns="0" rtlCol="0" anchor="t"/>
          <a:lstStyle/>
          <a:p>
            <a:pPr marL="0" indent="0" algn="l">
              <a:lnSpc>
                <a:spcPct val="104000"/>
              </a:lnSpc>
              <a:buNone/>
            </a:pPr>
            <a:r>
              <a:rPr lang="en-US" sz="1050" dirty="0">
                <a:solidFill>
                  <a:srgbClr val="2C3249"/>
                </a:solidFill>
                <a:latin typeface="Kanit Light" pitchFamily="34" charset="0"/>
                <a:ea typeface="Kanit Light" pitchFamily="34" charset="-122"/>
                <a:cs typeface="Kanit Light" pitchFamily="34" charset="-120"/>
              </a:rPr>
              <a:t>Authentication</a:t>
            </a:r>
            <a:endParaRPr lang="en-US" sz="1050" dirty="0"/>
          </a:p>
        </p:txBody>
      </p:sp>
      <p:sp>
        <p:nvSpPr>
          <p:cNvPr id="15" name="Text 13"/>
          <p:cNvSpPr/>
          <p:nvPr/>
        </p:nvSpPr>
        <p:spPr>
          <a:xfrm>
            <a:off x="4745906" y="1907084"/>
            <a:ext cx="3831506" cy="334268"/>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2C3249"/>
                </a:solidFill>
                <a:latin typeface="Martel Sans" pitchFamily="34" charset="0"/>
                <a:ea typeface="Martel Sans" pitchFamily="34" charset="-122"/>
                <a:cs typeface="Martel Sans" pitchFamily="34" charset="-120"/>
              </a:rPr>
              <a:t>OTP email verification flow, bcrypt password hashing, tokenised password reset.</a:t>
            </a:r>
            <a:endParaRPr lang="en-US" sz="850" dirty="0"/>
          </a:p>
        </p:txBody>
      </p:sp>
      <p:sp>
        <p:nvSpPr>
          <p:cNvPr id="16" name="Shape 14"/>
          <p:cNvSpPr/>
          <p:nvPr/>
        </p:nvSpPr>
        <p:spPr>
          <a:xfrm>
            <a:off x="441871" y="2630091"/>
            <a:ext cx="4080942" cy="966788"/>
          </a:xfrm>
          <a:prstGeom prst="roundRect">
            <a:avLst>
              <a:gd name="adj" fmla="val 7094"/>
            </a:avLst>
          </a:prstGeom>
          <a:solidFill>
            <a:srgbClr val="FFFFFF"/>
          </a:solidFill>
          <a:ln w="14288">
            <a:solidFill>
              <a:srgbClr val="C5D2CF"/>
            </a:solidFill>
            <a:prstDash val="solid"/>
          </a:ln>
        </p:spPr>
      </p:sp>
      <p:sp>
        <p:nvSpPr>
          <p:cNvPr id="17" name="Shape 15"/>
          <p:cNvSpPr/>
          <p:nvPr/>
        </p:nvSpPr>
        <p:spPr>
          <a:xfrm>
            <a:off x="441871" y="2615803"/>
            <a:ext cx="4080942" cy="57150"/>
          </a:xfrm>
          <a:prstGeom prst="roundRect">
            <a:avLst>
              <a:gd name="adj" fmla="val 81192"/>
            </a:avLst>
          </a:prstGeom>
          <a:solidFill>
            <a:srgbClr val="437066"/>
          </a:solidFill>
          <a:ln/>
        </p:spPr>
      </p:sp>
      <p:sp>
        <p:nvSpPr>
          <p:cNvPr id="18" name="Shape 16"/>
          <p:cNvSpPr/>
          <p:nvPr/>
        </p:nvSpPr>
        <p:spPr>
          <a:xfrm>
            <a:off x="2316621" y="2464445"/>
            <a:ext cx="331366" cy="331366"/>
          </a:xfrm>
          <a:prstGeom prst="roundRect">
            <a:avLst>
              <a:gd name="adj" fmla="val 172468"/>
            </a:avLst>
          </a:prstGeom>
          <a:solidFill>
            <a:srgbClr val="437066"/>
          </a:solidFill>
          <a:ln/>
        </p:spPr>
      </p:sp>
      <p:sp>
        <p:nvSpPr>
          <p:cNvPr id="19" name="Text 17"/>
          <p:cNvSpPr/>
          <p:nvPr/>
        </p:nvSpPr>
        <p:spPr>
          <a:xfrm>
            <a:off x="2416039" y="2547268"/>
            <a:ext cx="132531" cy="165646"/>
          </a:xfrm>
          <a:prstGeom prst="rect">
            <a:avLst/>
          </a:prstGeom>
          <a:noFill/>
          <a:ln/>
        </p:spPr>
        <p:txBody>
          <a:bodyPr wrap="none" lIns="0" tIns="0" rIns="0" bIns="0" rtlCol="0" anchor="ctr"/>
          <a:lstStyle/>
          <a:p>
            <a:pPr marL="0" indent="0" algn="ctr">
              <a:lnSpc>
                <a:spcPct val="100000"/>
              </a:lnSpc>
              <a:buNone/>
            </a:pPr>
            <a:r>
              <a:rPr lang="en-US" sz="1000" dirty="0">
                <a:solidFill>
                  <a:srgbClr val="FFFFFF"/>
                </a:solidFill>
                <a:latin typeface="Kanit Light" pitchFamily="34" charset="0"/>
                <a:ea typeface="Kanit Light" pitchFamily="34" charset="-122"/>
                <a:cs typeface="Kanit Light" pitchFamily="34" charset="-120"/>
              </a:rPr>
              <a:t>3</a:t>
            </a:r>
            <a:endParaRPr lang="en-US" sz="1000" dirty="0"/>
          </a:p>
        </p:txBody>
      </p:sp>
      <p:sp>
        <p:nvSpPr>
          <p:cNvPr id="20" name="Text 18"/>
          <p:cNvSpPr/>
          <p:nvPr/>
        </p:nvSpPr>
        <p:spPr>
          <a:xfrm>
            <a:off x="566589" y="2906241"/>
            <a:ext cx="1380976" cy="172641"/>
          </a:xfrm>
          <a:prstGeom prst="rect">
            <a:avLst/>
          </a:prstGeom>
          <a:noFill/>
          <a:ln/>
        </p:spPr>
        <p:txBody>
          <a:bodyPr wrap="none" lIns="0" tIns="0" rIns="0" bIns="0" rtlCol="0" anchor="t"/>
          <a:lstStyle/>
          <a:p>
            <a:pPr marL="0" indent="0" algn="l">
              <a:lnSpc>
                <a:spcPct val="104000"/>
              </a:lnSpc>
              <a:buNone/>
            </a:pPr>
            <a:r>
              <a:rPr lang="en-US" sz="1050" dirty="0">
                <a:solidFill>
                  <a:srgbClr val="2C3249"/>
                </a:solidFill>
                <a:latin typeface="Kanit Light" pitchFamily="34" charset="0"/>
                <a:ea typeface="Kanit Light" pitchFamily="34" charset="-122"/>
                <a:cs typeface="Kanit Light" pitchFamily="34" charset="-120"/>
              </a:rPr>
              <a:t>Booking Engine</a:t>
            </a:r>
            <a:endParaRPr lang="en-US" sz="1050" dirty="0"/>
          </a:p>
        </p:txBody>
      </p:sp>
      <p:sp>
        <p:nvSpPr>
          <p:cNvPr id="21" name="Text 19"/>
          <p:cNvSpPr/>
          <p:nvPr/>
        </p:nvSpPr>
        <p:spPr>
          <a:xfrm>
            <a:off x="566589" y="3137892"/>
            <a:ext cx="3831506" cy="334268"/>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2C3249"/>
                </a:solidFill>
                <a:latin typeface="Martel Sans" pitchFamily="34" charset="0"/>
                <a:ea typeface="Martel Sans" pitchFamily="34" charset="-122"/>
                <a:cs typeface="Martel Sans" pitchFamily="34" charset="-120"/>
              </a:rPr>
              <a:t>Atomic seat decrement logic, ticket count handling, cancellation and refund flows.</a:t>
            </a:r>
            <a:endParaRPr lang="en-US" sz="850" dirty="0"/>
          </a:p>
        </p:txBody>
      </p:sp>
      <p:sp>
        <p:nvSpPr>
          <p:cNvPr id="22" name="Shape 20"/>
          <p:cNvSpPr/>
          <p:nvPr/>
        </p:nvSpPr>
        <p:spPr>
          <a:xfrm>
            <a:off x="4621188" y="2630091"/>
            <a:ext cx="4080942" cy="966788"/>
          </a:xfrm>
          <a:prstGeom prst="roundRect">
            <a:avLst>
              <a:gd name="adj" fmla="val 7094"/>
            </a:avLst>
          </a:prstGeom>
          <a:solidFill>
            <a:srgbClr val="FFFFFF"/>
          </a:solidFill>
          <a:ln w="14288">
            <a:solidFill>
              <a:srgbClr val="C5D2CF"/>
            </a:solidFill>
            <a:prstDash val="solid"/>
          </a:ln>
        </p:spPr>
      </p:sp>
      <p:sp>
        <p:nvSpPr>
          <p:cNvPr id="23" name="Shape 21"/>
          <p:cNvSpPr/>
          <p:nvPr/>
        </p:nvSpPr>
        <p:spPr>
          <a:xfrm>
            <a:off x="4621188" y="2615803"/>
            <a:ext cx="4080942" cy="57150"/>
          </a:xfrm>
          <a:prstGeom prst="roundRect">
            <a:avLst>
              <a:gd name="adj" fmla="val 81192"/>
            </a:avLst>
          </a:prstGeom>
          <a:solidFill>
            <a:srgbClr val="437066"/>
          </a:solidFill>
          <a:ln/>
        </p:spPr>
      </p:sp>
      <p:sp>
        <p:nvSpPr>
          <p:cNvPr id="24" name="Shape 22"/>
          <p:cNvSpPr/>
          <p:nvPr/>
        </p:nvSpPr>
        <p:spPr>
          <a:xfrm>
            <a:off x="6495938" y="2464445"/>
            <a:ext cx="331366" cy="331366"/>
          </a:xfrm>
          <a:prstGeom prst="roundRect">
            <a:avLst>
              <a:gd name="adj" fmla="val 172468"/>
            </a:avLst>
          </a:prstGeom>
          <a:solidFill>
            <a:srgbClr val="437066"/>
          </a:solidFill>
          <a:ln/>
        </p:spPr>
      </p:sp>
      <p:sp>
        <p:nvSpPr>
          <p:cNvPr id="25" name="Text 23"/>
          <p:cNvSpPr/>
          <p:nvPr/>
        </p:nvSpPr>
        <p:spPr>
          <a:xfrm>
            <a:off x="6595356" y="2547268"/>
            <a:ext cx="132531" cy="165646"/>
          </a:xfrm>
          <a:prstGeom prst="rect">
            <a:avLst/>
          </a:prstGeom>
          <a:noFill/>
          <a:ln/>
        </p:spPr>
        <p:txBody>
          <a:bodyPr wrap="none" lIns="0" tIns="0" rIns="0" bIns="0" rtlCol="0" anchor="ctr"/>
          <a:lstStyle/>
          <a:p>
            <a:pPr marL="0" indent="0" algn="ctr">
              <a:lnSpc>
                <a:spcPct val="100000"/>
              </a:lnSpc>
              <a:buNone/>
            </a:pPr>
            <a:r>
              <a:rPr lang="en-US" sz="1000" dirty="0">
                <a:solidFill>
                  <a:srgbClr val="FFFFFF"/>
                </a:solidFill>
                <a:latin typeface="Kanit Light" pitchFamily="34" charset="0"/>
                <a:ea typeface="Kanit Light" pitchFamily="34" charset="-122"/>
                <a:cs typeface="Kanit Light" pitchFamily="34" charset="-120"/>
              </a:rPr>
              <a:t>4</a:t>
            </a:r>
            <a:endParaRPr lang="en-US" sz="1000" dirty="0"/>
          </a:p>
        </p:txBody>
      </p:sp>
      <p:sp>
        <p:nvSpPr>
          <p:cNvPr id="26" name="Text 24"/>
          <p:cNvSpPr/>
          <p:nvPr/>
        </p:nvSpPr>
        <p:spPr>
          <a:xfrm>
            <a:off x="4745906" y="2906241"/>
            <a:ext cx="1380976" cy="172641"/>
          </a:xfrm>
          <a:prstGeom prst="rect">
            <a:avLst/>
          </a:prstGeom>
          <a:noFill/>
          <a:ln/>
        </p:spPr>
        <p:txBody>
          <a:bodyPr wrap="none" lIns="0" tIns="0" rIns="0" bIns="0" rtlCol="0" anchor="t"/>
          <a:lstStyle/>
          <a:p>
            <a:pPr marL="0" indent="0" algn="l">
              <a:lnSpc>
                <a:spcPct val="104000"/>
              </a:lnSpc>
              <a:buNone/>
            </a:pPr>
            <a:r>
              <a:rPr lang="en-US" sz="1050" dirty="0">
                <a:solidFill>
                  <a:srgbClr val="2C3249"/>
                </a:solidFill>
                <a:latin typeface="Kanit Light" pitchFamily="34" charset="0"/>
                <a:ea typeface="Kanit Light" pitchFamily="34" charset="-122"/>
                <a:cs typeface="Kanit Light" pitchFamily="34" charset="-120"/>
              </a:rPr>
              <a:t>Email &amp; QR</a:t>
            </a:r>
            <a:endParaRPr lang="en-US" sz="1050" dirty="0"/>
          </a:p>
        </p:txBody>
      </p:sp>
      <p:sp>
        <p:nvSpPr>
          <p:cNvPr id="27" name="Text 25"/>
          <p:cNvSpPr/>
          <p:nvPr/>
        </p:nvSpPr>
        <p:spPr>
          <a:xfrm>
            <a:off x="4745906" y="3137892"/>
            <a:ext cx="3831506" cy="334268"/>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2C3249"/>
                </a:solidFill>
                <a:latin typeface="Martel Sans" pitchFamily="34" charset="0"/>
                <a:ea typeface="Martel Sans" pitchFamily="34" charset="-122"/>
                <a:cs typeface="Martel Sans" pitchFamily="34" charset="-120"/>
              </a:rPr>
              <a:t>Brevo transactional API for OTPs and confirmations; QR generation endpoint serving PNG buffers.</a:t>
            </a:r>
            <a:endParaRPr lang="en-US" sz="850" dirty="0"/>
          </a:p>
        </p:txBody>
      </p:sp>
      <p:sp>
        <p:nvSpPr>
          <p:cNvPr id="28" name="Shape 26"/>
          <p:cNvSpPr/>
          <p:nvPr/>
        </p:nvSpPr>
        <p:spPr>
          <a:xfrm>
            <a:off x="441871" y="3860899"/>
            <a:ext cx="4080942" cy="966788"/>
          </a:xfrm>
          <a:prstGeom prst="roundRect">
            <a:avLst>
              <a:gd name="adj" fmla="val 7094"/>
            </a:avLst>
          </a:prstGeom>
          <a:solidFill>
            <a:srgbClr val="FFFFFF"/>
          </a:solidFill>
          <a:ln w="14288">
            <a:solidFill>
              <a:srgbClr val="C5D2CF"/>
            </a:solidFill>
            <a:prstDash val="solid"/>
          </a:ln>
        </p:spPr>
      </p:sp>
      <p:sp>
        <p:nvSpPr>
          <p:cNvPr id="29" name="Shape 27"/>
          <p:cNvSpPr/>
          <p:nvPr/>
        </p:nvSpPr>
        <p:spPr>
          <a:xfrm>
            <a:off x="441871" y="3846612"/>
            <a:ext cx="4080942" cy="57150"/>
          </a:xfrm>
          <a:prstGeom prst="roundRect">
            <a:avLst>
              <a:gd name="adj" fmla="val 81192"/>
            </a:avLst>
          </a:prstGeom>
          <a:solidFill>
            <a:srgbClr val="437066"/>
          </a:solidFill>
          <a:ln/>
        </p:spPr>
      </p:sp>
      <p:sp>
        <p:nvSpPr>
          <p:cNvPr id="30" name="Shape 28"/>
          <p:cNvSpPr/>
          <p:nvPr/>
        </p:nvSpPr>
        <p:spPr>
          <a:xfrm>
            <a:off x="2316621" y="3695254"/>
            <a:ext cx="331366" cy="331366"/>
          </a:xfrm>
          <a:prstGeom prst="roundRect">
            <a:avLst>
              <a:gd name="adj" fmla="val 172468"/>
            </a:avLst>
          </a:prstGeom>
          <a:solidFill>
            <a:srgbClr val="437066"/>
          </a:solidFill>
          <a:ln/>
        </p:spPr>
      </p:sp>
      <p:sp>
        <p:nvSpPr>
          <p:cNvPr id="31" name="Text 29"/>
          <p:cNvSpPr/>
          <p:nvPr/>
        </p:nvSpPr>
        <p:spPr>
          <a:xfrm>
            <a:off x="2416039" y="3778076"/>
            <a:ext cx="132531" cy="165646"/>
          </a:xfrm>
          <a:prstGeom prst="rect">
            <a:avLst/>
          </a:prstGeom>
          <a:noFill/>
          <a:ln/>
        </p:spPr>
        <p:txBody>
          <a:bodyPr wrap="none" lIns="0" tIns="0" rIns="0" bIns="0" rtlCol="0" anchor="ctr"/>
          <a:lstStyle/>
          <a:p>
            <a:pPr marL="0" indent="0" algn="ctr">
              <a:lnSpc>
                <a:spcPct val="100000"/>
              </a:lnSpc>
              <a:buNone/>
            </a:pPr>
            <a:r>
              <a:rPr lang="en-US" sz="1000" dirty="0">
                <a:solidFill>
                  <a:srgbClr val="FFFFFF"/>
                </a:solidFill>
                <a:latin typeface="Kanit Light" pitchFamily="34" charset="0"/>
                <a:ea typeface="Kanit Light" pitchFamily="34" charset="-122"/>
                <a:cs typeface="Kanit Light" pitchFamily="34" charset="-120"/>
              </a:rPr>
              <a:t>5</a:t>
            </a:r>
            <a:endParaRPr lang="en-US" sz="1000" dirty="0"/>
          </a:p>
        </p:txBody>
      </p:sp>
      <p:sp>
        <p:nvSpPr>
          <p:cNvPr id="32" name="Text 30"/>
          <p:cNvSpPr/>
          <p:nvPr/>
        </p:nvSpPr>
        <p:spPr>
          <a:xfrm>
            <a:off x="566589" y="4137050"/>
            <a:ext cx="1380976" cy="172641"/>
          </a:xfrm>
          <a:prstGeom prst="rect">
            <a:avLst/>
          </a:prstGeom>
          <a:noFill/>
          <a:ln/>
        </p:spPr>
        <p:txBody>
          <a:bodyPr wrap="none" lIns="0" tIns="0" rIns="0" bIns="0" rtlCol="0" anchor="t"/>
          <a:lstStyle/>
          <a:p>
            <a:pPr marL="0" indent="0" algn="l">
              <a:lnSpc>
                <a:spcPct val="104000"/>
              </a:lnSpc>
              <a:buNone/>
            </a:pPr>
            <a:r>
              <a:rPr lang="en-US" sz="1050" dirty="0">
                <a:solidFill>
                  <a:srgbClr val="2C3249"/>
                </a:solidFill>
                <a:latin typeface="Kanit Light" pitchFamily="34" charset="0"/>
                <a:ea typeface="Kanit Light" pitchFamily="34" charset="-122"/>
                <a:cs typeface="Kanit Light" pitchFamily="34" charset="-120"/>
              </a:rPr>
              <a:t>Frontend &amp; Admin</a:t>
            </a:r>
            <a:endParaRPr lang="en-US" sz="1050" dirty="0"/>
          </a:p>
        </p:txBody>
      </p:sp>
      <p:sp>
        <p:nvSpPr>
          <p:cNvPr id="33" name="Text 31"/>
          <p:cNvSpPr/>
          <p:nvPr/>
        </p:nvSpPr>
        <p:spPr>
          <a:xfrm>
            <a:off x="566589" y="4368701"/>
            <a:ext cx="3831506" cy="334268"/>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2C3249"/>
                </a:solidFill>
                <a:latin typeface="Martel Sans" pitchFamily="34" charset="0"/>
                <a:ea typeface="Martel Sans" pitchFamily="34" charset="-122"/>
                <a:cs typeface="Martel Sans" pitchFamily="34" charset="-120"/>
              </a:rPr>
              <a:t>Vanilla HTML/CSS/JS static site for user flows plus an admin panel for CRUD and stats.</a:t>
            </a:r>
            <a:endParaRPr lang="en-US" sz="850" dirty="0"/>
          </a:p>
        </p:txBody>
      </p:sp>
      <p:sp>
        <p:nvSpPr>
          <p:cNvPr id="34" name="Shape 32"/>
          <p:cNvSpPr/>
          <p:nvPr/>
        </p:nvSpPr>
        <p:spPr>
          <a:xfrm>
            <a:off x="4621188" y="3860899"/>
            <a:ext cx="4080942" cy="966788"/>
          </a:xfrm>
          <a:prstGeom prst="roundRect">
            <a:avLst>
              <a:gd name="adj" fmla="val 7094"/>
            </a:avLst>
          </a:prstGeom>
          <a:solidFill>
            <a:srgbClr val="FFFFFF"/>
          </a:solidFill>
          <a:ln w="14288">
            <a:solidFill>
              <a:srgbClr val="C5D2CF"/>
            </a:solidFill>
            <a:prstDash val="solid"/>
          </a:ln>
        </p:spPr>
      </p:sp>
      <p:sp>
        <p:nvSpPr>
          <p:cNvPr id="35" name="Shape 33"/>
          <p:cNvSpPr/>
          <p:nvPr/>
        </p:nvSpPr>
        <p:spPr>
          <a:xfrm>
            <a:off x="4621188" y="3846612"/>
            <a:ext cx="4080942" cy="57150"/>
          </a:xfrm>
          <a:prstGeom prst="roundRect">
            <a:avLst>
              <a:gd name="adj" fmla="val 81192"/>
            </a:avLst>
          </a:prstGeom>
          <a:solidFill>
            <a:srgbClr val="437066"/>
          </a:solidFill>
          <a:ln/>
        </p:spPr>
      </p:sp>
      <p:sp>
        <p:nvSpPr>
          <p:cNvPr id="36" name="Shape 34"/>
          <p:cNvSpPr/>
          <p:nvPr/>
        </p:nvSpPr>
        <p:spPr>
          <a:xfrm>
            <a:off x="6495938" y="3695254"/>
            <a:ext cx="331366" cy="331366"/>
          </a:xfrm>
          <a:prstGeom prst="roundRect">
            <a:avLst>
              <a:gd name="adj" fmla="val 172468"/>
            </a:avLst>
          </a:prstGeom>
          <a:solidFill>
            <a:srgbClr val="437066"/>
          </a:solidFill>
          <a:ln/>
        </p:spPr>
      </p:sp>
      <p:sp>
        <p:nvSpPr>
          <p:cNvPr id="37" name="Text 35"/>
          <p:cNvSpPr/>
          <p:nvPr/>
        </p:nvSpPr>
        <p:spPr>
          <a:xfrm>
            <a:off x="6595356" y="3778076"/>
            <a:ext cx="132531" cy="165646"/>
          </a:xfrm>
          <a:prstGeom prst="rect">
            <a:avLst/>
          </a:prstGeom>
          <a:noFill/>
          <a:ln/>
        </p:spPr>
        <p:txBody>
          <a:bodyPr wrap="none" lIns="0" tIns="0" rIns="0" bIns="0" rtlCol="0" anchor="ctr"/>
          <a:lstStyle/>
          <a:p>
            <a:pPr marL="0" indent="0" algn="ctr">
              <a:lnSpc>
                <a:spcPct val="100000"/>
              </a:lnSpc>
              <a:buNone/>
            </a:pPr>
            <a:r>
              <a:rPr lang="en-US" sz="1000" dirty="0">
                <a:solidFill>
                  <a:srgbClr val="FFFFFF"/>
                </a:solidFill>
                <a:latin typeface="Kanit Light" pitchFamily="34" charset="0"/>
                <a:ea typeface="Kanit Light" pitchFamily="34" charset="-122"/>
                <a:cs typeface="Kanit Light" pitchFamily="34" charset="-120"/>
              </a:rPr>
              <a:t>6</a:t>
            </a:r>
            <a:endParaRPr lang="en-US" sz="1000" dirty="0"/>
          </a:p>
        </p:txBody>
      </p:sp>
      <p:sp>
        <p:nvSpPr>
          <p:cNvPr id="38" name="Text 36"/>
          <p:cNvSpPr/>
          <p:nvPr/>
        </p:nvSpPr>
        <p:spPr>
          <a:xfrm>
            <a:off x="4745906" y="4137050"/>
            <a:ext cx="1380976" cy="172641"/>
          </a:xfrm>
          <a:prstGeom prst="rect">
            <a:avLst/>
          </a:prstGeom>
          <a:noFill/>
          <a:ln/>
        </p:spPr>
        <p:txBody>
          <a:bodyPr wrap="none" lIns="0" tIns="0" rIns="0" bIns="0" rtlCol="0" anchor="t"/>
          <a:lstStyle/>
          <a:p>
            <a:pPr marL="0" indent="0" algn="l">
              <a:lnSpc>
                <a:spcPct val="104000"/>
              </a:lnSpc>
              <a:buNone/>
            </a:pPr>
            <a:r>
              <a:rPr lang="en-US" sz="1050" dirty="0">
                <a:solidFill>
                  <a:srgbClr val="2C3249"/>
                </a:solidFill>
                <a:latin typeface="Kanit Light" pitchFamily="34" charset="0"/>
                <a:ea typeface="Kanit Light" pitchFamily="34" charset="-122"/>
                <a:cs typeface="Kanit Light" pitchFamily="34" charset="-120"/>
              </a:rPr>
              <a:t>Security &amp; Ops</a:t>
            </a:r>
            <a:endParaRPr lang="en-US" sz="1050" dirty="0"/>
          </a:p>
        </p:txBody>
      </p:sp>
      <p:sp>
        <p:nvSpPr>
          <p:cNvPr id="39" name="Text 37"/>
          <p:cNvSpPr/>
          <p:nvPr/>
        </p:nvSpPr>
        <p:spPr>
          <a:xfrm>
            <a:off x="4745906" y="4368701"/>
            <a:ext cx="3831506" cy="334268"/>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2C3249"/>
                </a:solidFill>
                <a:latin typeface="Martel Sans" pitchFamily="34" charset="0"/>
                <a:ea typeface="Martel Sans" pitchFamily="34" charset="-122"/>
                <a:cs typeface="Martel Sans" pitchFamily="34" charset="-120"/>
              </a:rPr>
              <a:t>Helmet CSP, rate limiting (100 req / 15min), mongo‑sanitize, input validation and deployment hardening.</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811262"/>
            <a:ext cx="2938090" cy="310083"/>
          </a:xfrm>
          <a:prstGeom prst="rect">
            <a:avLst/>
          </a:prstGeom>
          <a:noFill/>
          <a:ln/>
        </p:spPr>
        <p:txBody>
          <a:bodyPr wrap="none" lIns="0" tIns="0" rIns="0" bIns="0" rtlCol="0" anchor="t"/>
          <a:lstStyle/>
          <a:p>
            <a:pPr marL="0" indent="0" algn="l">
              <a:lnSpc>
                <a:spcPct val="104000"/>
              </a:lnSpc>
              <a:buNone/>
            </a:pPr>
            <a:r>
              <a:rPr lang="en-US" sz="1950" dirty="0">
                <a:solidFill>
                  <a:srgbClr val="272D45"/>
                </a:solidFill>
                <a:latin typeface="Kanit Light" pitchFamily="34" charset="0"/>
                <a:ea typeface="Kanit Light" pitchFamily="34" charset="-122"/>
                <a:cs typeface="Kanit Light" pitchFamily="34" charset="-120"/>
              </a:rPr>
              <a:t>What Eventify Does</a:t>
            </a:r>
            <a:endParaRPr lang="en-US" sz="1950" dirty="0"/>
          </a:p>
        </p:txBody>
      </p:sp>
      <p:sp>
        <p:nvSpPr>
          <p:cNvPr id="3" name="Text 1"/>
          <p:cNvSpPr/>
          <p:nvPr/>
        </p:nvSpPr>
        <p:spPr>
          <a:xfrm>
            <a:off x="496119" y="1369368"/>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C3249"/>
                </a:solidFill>
                <a:latin typeface="Martel Sans" pitchFamily="34" charset="0"/>
                <a:ea typeface="Martel Sans" pitchFamily="34" charset="-122"/>
                <a:cs typeface="Martel Sans" pitchFamily="34" charset="-120"/>
              </a:rPr>
              <a:t> Eventify delivers a comprehensive experience for users and admins. Below are the principal features grouped by user role and operational area to illustrate the product's end‑to‑end capabilities. </a:t>
            </a:r>
            <a:endParaRPr lang="en-US" sz="950" dirty="0"/>
          </a:p>
        </p:txBody>
      </p:sp>
      <p:sp>
        <p:nvSpPr>
          <p:cNvPr id="4" name="Shape 2"/>
          <p:cNvSpPr/>
          <p:nvPr/>
        </p:nvSpPr>
        <p:spPr>
          <a:xfrm>
            <a:off x="496119" y="1905819"/>
            <a:ext cx="2634555" cy="1759893"/>
          </a:xfrm>
          <a:prstGeom prst="roundRect">
            <a:avLst>
              <a:gd name="adj" fmla="val 2960"/>
            </a:avLst>
          </a:prstGeom>
          <a:solidFill>
            <a:srgbClr val="DFECE9"/>
          </a:solidFill>
          <a:ln w="4763">
            <a:solidFill>
              <a:srgbClr val="C5D2CF"/>
            </a:solidFill>
            <a:prstDash val="solid"/>
          </a:ln>
        </p:spPr>
      </p:sp>
      <p:sp>
        <p:nvSpPr>
          <p:cNvPr id="5" name="Text 3"/>
          <p:cNvSpPr/>
          <p:nvPr/>
        </p:nvSpPr>
        <p:spPr>
          <a:xfrm>
            <a:off x="624855" y="2034555"/>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2C3249"/>
                </a:solidFill>
                <a:latin typeface="Kanit Light" pitchFamily="34" charset="0"/>
                <a:ea typeface="Kanit Light" pitchFamily="34" charset="-122"/>
                <a:cs typeface="Kanit Light" pitchFamily="34" charset="-120"/>
              </a:rPr>
              <a:t>User Features</a:t>
            </a:r>
            <a:endParaRPr lang="en-US" sz="1200" dirty="0"/>
          </a:p>
        </p:txBody>
      </p:sp>
      <p:sp>
        <p:nvSpPr>
          <p:cNvPr id="6" name="Text 4"/>
          <p:cNvSpPr/>
          <p:nvPr/>
        </p:nvSpPr>
        <p:spPr>
          <a:xfrm>
            <a:off x="624855" y="2302818"/>
            <a:ext cx="2377083" cy="1079078"/>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2C3249"/>
                </a:solidFill>
                <a:latin typeface="Martel Sans" pitchFamily="34" charset="0"/>
                <a:ea typeface="Martel Sans" pitchFamily="34" charset="-122"/>
                <a:cs typeface="Martel Sans" pitchFamily="34" charset="-120"/>
              </a:rPr>
              <a:t>OTP‑verified registration &amp; login</a:t>
            </a:r>
            <a:endParaRPr lang="en-US" sz="950" dirty="0"/>
          </a:p>
          <a:p>
            <a:pPr marL="342900" indent="-342900" algn="l">
              <a:lnSpc>
                <a:spcPct val="133000"/>
              </a:lnSpc>
              <a:buSzPct val="100000"/>
              <a:buChar char="•"/>
            </a:pPr>
            <a:r>
              <a:rPr lang="en-US" sz="950" dirty="0">
                <a:solidFill>
                  <a:srgbClr val="2C3249"/>
                </a:solidFill>
                <a:latin typeface="Martel Sans" pitchFamily="34" charset="0"/>
                <a:ea typeface="Martel Sans" pitchFamily="34" charset="-122"/>
                <a:cs typeface="Martel Sans" pitchFamily="34" charset="-120"/>
              </a:rPr>
              <a:t>Search, filter and save events; booking history and cancellations</a:t>
            </a:r>
            <a:endParaRPr lang="en-US" sz="950" dirty="0"/>
          </a:p>
          <a:p>
            <a:pPr marL="342900" indent="-342900" algn="l">
              <a:lnSpc>
                <a:spcPct val="133000"/>
              </a:lnSpc>
              <a:buSzPct val="100000"/>
              <a:buChar char="•"/>
            </a:pPr>
            <a:r>
              <a:rPr lang="en-US" sz="950" dirty="0">
                <a:solidFill>
                  <a:srgbClr val="2C3249"/>
                </a:solidFill>
                <a:latin typeface="Martel Sans" pitchFamily="34" charset="0"/>
                <a:ea typeface="Martel Sans" pitchFamily="34" charset="-122"/>
                <a:cs typeface="Martel Sans" pitchFamily="34" charset="-120"/>
              </a:rPr>
              <a:t>Profile management and password changes</a:t>
            </a:r>
            <a:endParaRPr lang="en-US" sz="950" dirty="0"/>
          </a:p>
        </p:txBody>
      </p:sp>
      <p:sp>
        <p:nvSpPr>
          <p:cNvPr id="7" name="Shape 5"/>
          <p:cNvSpPr/>
          <p:nvPr/>
        </p:nvSpPr>
        <p:spPr>
          <a:xfrm>
            <a:off x="3254648" y="1905819"/>
            <a:ext cx="2634630" cy="1759893"/>
          </a:xfrm>
          <a:prstGeom prst="roundRect">
            <a:avLst>
              <a:gd name="adj" fmla="val 2960"/>
            </a:avLst>
          </a:prstGeom>
          <a:solidFill>
            <a:srgbClr val="DFECE9"/>
          </a:solidFill>
          <a:ln w="4763">
            <a:solidFill>
              <a:srgbClr val="C5D2CF"/>
            </a:solidFill>
            <a:prstDash val="solid"/>
          </a:ln>
        </p:spPr>
      </p:sp>
      <p:sp>
        <p:nvSpPr>
          <p:cNvPr id="8" name="Text 6"/>
          <p:cNvSpPr/>
          <p:nvPr/>
        </p:nvSpPr>
        <p:spPr>
          <a:xfrm>
            <a:off x="3383384" y="2034555"/>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2C3249"/>
                </a:solidFill>
                <a:latin typeface="Kanit Light" pitchFamily="34" charset="0"/>
                <a:ea typeface="Kanit Light" pitchFamily="34" charset="-122"/>
                <a:cs typeface="Kanit Light" pitchFamily="34" charset="-120"/>
              </a:rPr>
              <a:t>Booking Features</a:t>
            </a:r>
            <a:endParaRPr lang="en-US" sz="1200" dirty="0"/>
          </a:p>
        </p:txBody>
      </p:sp>
      <p:sp>
        <p:nvSpPr>
          <p:cNvPr id="9" name="Text 7"/>
          <p:cNvSpPr/>
          <p:nvPr/>
        </p:nvSpPr>
        <p:spPr>
          <a:xfrm>
            <a:off x="3383384" y="2302818"/>
            <a:ext cx="2377157" cy="1035695"/>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2C3249"/>
                </a:solidFill>
                <a:latin typeface="Martel Sans" pitchFamily="34" charset="0"/>
                <a:ea typeface="Martel Sans" pitchFamily="34" charset="-122"/>
                <a:cs typeface="Martel Sans" pitchFamily="34" charset="-120"/>
              </a:rPr>
              <a:t>Choose cash or card; automated QR ticket emailed on confirmation</a:t>
            </a:r>
            <a:endParaRPr lang="en-US" sz="950" dirty="0"/>
          </a:p>
          <a:p>
            <a:pPr marL="342900" indent="-342900" algn="l">
              <a:lnSpc>
                <a:spcPct val="133000"/>
              </a:lnSpc>
              <a:buSzPct val="100000"/>
              <a:buChar char="•"/>
            </a:pPr>
            <a:r>
              <a:rPr lang="en-US" sz="950" dirty="0">
                <a:solidFill>
                  <a:srgbClr val="2C3249"/>
                </a:solidFill>
                <a:latin typeface="Martel Sans" pitchFamily="34" charset="0"/>
                <a:ea typeface="Martel Sans" pitchFamily="34" charset="-122"/>
                <a:cs typeface="Martel Sans" pitchFamily="34" charset="-120"/>
              </a:rPr>
              <a:t>QR scanning for venue verification; automatic seat restoration on cancellation</a:t>
            </a:r>
            <a:endParaRPr lang="en-US" sz="950" dirty="0"/>
          </a:p>
        </p:txBody>
      </p:sp>
      <p:sp>
        <p:nvSpPr>
          <p:cNvPr id="10" name="Shape 8"/>
          <p:cNvSpPr/>
          <p:nvPr/>
        </p:nvSpPr>
        <p:spPr>
          <a:xfrm>
            <a:off x="6013252" y="1905819"/>
            <a:ext cx="2634555" cy="1759893"/>
          </a:xfrm>
          <a:prstGeom prst="roundRect">
            <a:avLst>
              <a:gd name="adj" fmla="val 2960"/>
            </a:avLst>
          </a:prstGeom>
          <a:solidFill>
            <a:srgbClr val="DFECE9"/>
          </a:solidFill>
          <a:ln w="4763">
            <a:solidFill>
              <a:srgbClr val="C5D2CF"/>
            </a:solidFill>
            <a:prstDash val="solid"/>
          </a:ln>
        </p:spPr>
      </p:sp>
      <p:sp>
        <p:nvSpPr>
          <p:cNvPr id="11" name="Text 9"/>
          <p:cNvSpPr/>
          <p:nvPr/>
        </p:nvSpPr>
        <p:spPr>
          <a:xfrm>
            <a:off x="6141988" y="2034555"/>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2C3249"/>
                </a:solidFill>
                <a:latin typeface="Kanit Light" pitchFamily="34" charset="0"/>
                <a:ea typeface="Kanit Light" pitchFamily="34" charset="-122"/>
                <a:cs typeface="Kanit Light" pitchFamily="34" charset="-120"/>
              </a:rPr>
              <a:t>Admin Features</a:t>
            </a:r>
            <a:endParaRPr lang="en-US" sz="1200" dirty="0"/>
          </a:p>
        </p:txBody>
      </p:sp>
      <p:sp>
        <p:nvSpPr>
          <p:cNvPr id="12" name="Text 10"/>
          <p:cNvSpPr/>
          <p:nvPr/>
        </p:nvSpPr>
        <p:spPr>
          <a:xfrm>
            <a:off x="6141988" y="2302818"/>
            <a:ext cx="2377083" cy="1234157"/>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2C3249"/>
                </a:solidFill>
                <a:latin typeface="Martel Sans" pitchFamily="34" charset="0"/>
                <a:ea typeface="Martel Sans" pitchFamily="34" charset="-122"/>
                <a:cs typeface="Martel Sans" pitchFamily="34" charset="-120"/>
              </a:rPr>
              <a:t>Event CRUD (images accepted as base64), user management, update payment statuses</a:t>
            </a:r>
            <a:endParaRPr lang="en-US" sz="950" dirty="0"/>
          </a:p>
          <a:p>
            <a:pPr marL="342900" indent="-342900" algn="l">
              <a:lnSpc>
                <a:spcPct val="133000"/>
              </a:lnSpc>
              <a:buSzPct val="100000"/>
              <a:buChar char="•"/>
            </a:pPr>
            <a:r>
              <a:rPr lang="en-US" sz="950" dirty="0">
                <a:solidFill>
                  <a:srgbClr val="2C3249"/>
                </a:solidFill>
                <a:latin typeface="Martel Sans" pitchFamily="34" charset="0"/>
                <a:ea typeface="Martel Sans" pitchFamily="34" charset="-122"/>
                <a:cs typeface="Martel Sans" pitchFamily="34" charset="-120"/>
              </a:rPr>
              <a:t>Live dashboard: paid revenue, pending cash, bookings, low‑seat alerts</a:t>
            </a:r>
            <a:endParaRPr lang="en-US" sz="950" dirty="0"/>
          </a:p>
        </p:txBody>
      </p:sp>
      <p:sp>
        <p:nvSpPr>
          <p:cNvPr id="13" name="Shape 11"/>
          <p:cNvSpPr/>
          <p:nvPr/>
        </p:nvSpPr>
        <p:spPr>
          <a:xfrm>
            <a:off x="496119" y="3805238"/>
            <a:ext cx="8151763" cy="527000"/>
          </a:xfrm>
          <a:prstGeom prst="roundRect">
            <a:avLst>
              <a:gd name="adj" fmla="val 9886"/>
            </a:avLst>
          </a:prstGeom>
          <a:solidFill>
            <a:srgbClr val="B6FCB8"/>
          </a:solidFill>
          <a:ln/>
        </p:spPr>
      </p:sp>
      <p:pic>
        <p:nvPicPr>
          <p:cNvPr id="14" name="Image 0" descr="preencoded.png"/>
          <p:cNvPicPr>
            <a:picLocks noChangeAspect="1"/>
          </p:cNvPicPr>
          <p:nvPr/>
        </p:nvPicPr>
        <p:blipFill>
          <a:blip r:embed="rId3"/>
          <a:stretch>
            <a:fillRect/>
          </a:stretch>
        </p:blipFill>
        <p:spPr>
          <a:xfrm>
            <a:off x="620092" y="3975497"/>
            <a:ext cx="155004" cy="123974"/>
          </a:xfrm>
          <a:prstGeom prst="rect">
            <a:avLst/>
          </a:prstGeom>
        </p:spPr>
      </p:pic>
      <p:sp>
        <p:nvSpPr>
          <p:cNvPr id="15" name="Text 12"/>
          <p:cNvSpPr/>
          <p:nvPr/>
        </p:nvSpPr>
        <p:spPr>
          <a:xfrm>
            <a:off x="899071" y="3960168"/>
            <a:ext cx="8082037" cy="198462"/>
          </a:xfrm>
          <a:prstGeom prst="rect">
            <a:avLst/>
          </a:prstGeom>
          <a:noFill/>
          <a:ln/>
        </p:spPr>
        <p:txBody>
          <a:bodyPr wrap="none" lIns="0" tIns="0" rIns="0" bIns="0" rtlCol="0" anchor="t"/>
          <a:lstStyle/>
          <a:p>
            <a:pPr marL="0" indent="0" algn="l">
              <a:lnSpc>
                <a:spcPct val="133000"/>
              </a:lnSpc>
              <a:buNone/>
            </a:pPr>
            <a:r>
              <a:rPr lang="en-US" sz="950" dirty="0">
                <a:solidFill>
                  <a:srgbClr val="000000"/>
                </a:solidFill>
                <a:latin typeface="Martel Sans" pitchFamily="34" charset="0"/>
                <a:ea typeface="Martel Sans" pitchFamily="34" charset="-122"/>
                <a:cs typeface="Martel Sans" pitchFamily="34" charset="-120"/>
              </a:rPr>
              <a:t>Email notifications include OTP, booking confirmations with QR, cancellation and password change alerts.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532284"/>
            <a:ext cx="3237830" cy="310083"/>
          </a:xfrm>
          <a:prstGeom prst="rect">
            <a:avLst/>
          </a:prstGeom>
          <a:noFill/>
          <a:ln/>
        </p:spPr>
        <p:txBody>
          <a:bodyPr wrap="none" lIns="0" tIns="0" rIns="0" bIns="0" rtlCol="0" anchor="t"/>
          <a:lstStyle/>
          <a:p>
            <a:pPr marL="0" indent="0" algn="l">
              <a:lnSpc>
                <a:spcPct val="104000"/>
              </a:lnSpc>
              <a:buNone/>
            </a:pPr>
            <a:r>
              <a:rPr lang="en-US" sz="1950" dirty="0">
                <a:solidFill>
                  <a:srgbClr val="272D45"/>
                </a:solidFill>
                <a:latin typeface="Kanit Light" pitchFamily="34" charset="0"/>
                <a:ea typeface="Kanit Light" pitchFamily="34" charset="-122"/>
                <a:cs typeface="Kanit Light" pitchFamily="34" charset="-120"/>
              </a:rPr>
              <a:t>Tech Stack &amp; Architecture</a:t>
            </a:r>
            <a:endParaRPr lang="en-US" sz="1950" dirty="0"/>
          </a:p>
        </p:txBody>
      </p:sp>
      <p:sp>
        <p:nvSpPr>
          <p:cNvPr id="3" name="Text 1"/>
          <p:cNvSpPr/>
          <p:nvPr/>
        </p:nvSpPr>
        <p:spPr>
          <a:xfrm>
            <a:off x="496119" y="1090389"/>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C3249"/>
                </a:solidFill>
                <a:latin typeface="Martel Sans" pitchFamily="34" charset="0"/>
                <a:ea typeface="Martel Sans" pitchFamily="34" charset="-122"/>
                <a:cs typeface="Martel Sans" pitchFamily="34" charset="-120"/>
              </a:rPr>
              <a:t> Eventify is built with pragmatic, production‑focussed choices that suit deployment to Railway and operation without SMTP. The stack emphasises simplicity, security and reliability. </a:t>
            </a:r>
            <a:endParaRPr lang="en-US" sz="950" dirty="0"/>
          </a:p>
        </p:txBody>
      </p:sp>
      <p:sp>
        <p:nvSpPr>
          <p:cNvPr id="4" name="Shape 2"/>
          <p:cNvSpPr/>
          <p:nvPr/>
        </p:nvSpPr>
        <p:spPr>
          <a:xfrm>
            <a:off x="496119" y="1626840"/>
            <a:ext cx="8151763" cy="2984376"/>
          </a:xfrm>
          <a:prstGeom prst="roundRect">
            <a:avLst>
              <a:gd name="adj" fmla="val 1746"/>
            </a:avLst>
          </a:prstGeom>
          <a:noFill/>
          <a:ln w="4763">
            <a:solidFill>
              <a:srgbClr val="000000">
                <a:alpha val="8000"/>
              </a:srgbClr>
            </a:solidFill>
            <a:prstDash val="solid"/>
          </a:ln>
        </p:spPr>
      </p:sp>
      <p:sp>
        <p:nvSpPr>
          <p:cNvPr id="5" name="Shape 3"/>
          <p:cNvSpPr/>
          <p:nvPr/>
        </p:nvSpPr>
        <p:spPr>
          <a:xfrm>
            <a:off x="500881" y="1631603"/>
            <a:ext cx="8142238" cy="555278"/>
          </a:xfrm>
          <a:prstGeom prst="rect">
            <a:avLst/>
          </a:prstGeom>
          <a:solidFill>
            <a:srgbClr val="FFFFFF">
              <a:alpha val="4000"/>
            </a:srgbClr>
          </a:solidFill>
          <a:ln/>
        </p:spPr>
      </p:sp>
      <p:sp>
        <p:nvSpPr>
          <p:cNvPr id="6" name="Text 4"/>
          <p:cNvSpPr/>
          <p:nvPr/>
        </p:nvSpPr>
        <p:spPr>
          <a:xfrm>
            <a:off x="624929" y="1710779"/>
            <a:ext cx="3463751" cy="198462"/>
          </a:xfrm>
          <a:prstGeom prst="rect">
            <a:avLst/>
          </a:prstGeom>
          <a:noFill/>
          <a:ln/>
        </p:spPr>
        <p:txBody>
          <a:bodyPr wrap="none" lIns="0" tIns="0" rIns="0" bIns="0" rtlCol="0" anchor="t"/>
          <a:lstStyle/>
          <a:p>
            <a:pPr marL="0" indent="0" algn="l">
              <a:lnSpc>
                <a:spcPct val="133000"/>
              </a:lnSpc>
              <a:buNone/>
            </a:pPr>
            <a:r>
              <a:rPr lang="en-US" sz="950" b="1" dirty="0">
                <a:solidFill>
                  <a:srgbClr val="2C3249"/>
                </a:solidFill>
                <a:latin typeface="Martel Sans" pitchFamily="34" charset="0"/>
                <a:ea typeface="Martel Sans" pitchFamily="34" charset="-122"/>
                <a:cs typeface="Martel Sans" pitchFamily="34" charset="-120"/>
              </a:rPr>
              <a:t>Backend</a:t>
            </a:r>
            <a:endParaRPr lang="en-US" sz="950" dirty="0"/>
          </a:p>
        </p:txBody>
      </p:sp>
      <p:sp>
        <p:nvSpPr>
          <p:cNvPr id="7" name="Text 5"/>
          <p:cNvSpPr/>
          <p:nvPr/>
        </p:nvSpPr>
        <p:spPr>
          <a:xfrm>
            <a:off x="3884191" y="1710779"/>
            <a:ext cx="4634954"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C3249"/>
                </a:solidFill>
                <a:latin typeface="Martel Sans" pitchFamily="34" charset="0"/>
                <a:ea typeface="Martel Sans" pitchFamily="34" charset="-122"/>
                <a:cs typeface="Martel Sans" pitchFamily="34" charset="-120"/>
              </a:rPr>
              <a:t>Node.js, Express.js v5, RESTful API routes (/api/users, /api/events, /api/bookings, /api/admin)</a:t>
            </a:r>
            <a:endParaRPr lang="en-US" sz="950" dirty="0"/>
          </a:p>
        </p:txBody>
      </p:sp>
      <p:sp>
        <p:nvSpPr>
          <p:cNvPr id="8" name="Shape 6"/>
          <p:cNvSpPr/>
          <p:nvPr/>
        </p:nvSpPr>
        <p:spPr>
          <a:xfrm>
            <a:off x="500881" y="2186880"/>
            <a:ext cx="8142238" cy="555278"/>
          </a:xfrm>
          <a:prstGeom prst="rect">
            <a:avLst/>
          </a:prstGeom>
          <a:solidFill>
            <a:srgbClr val="000000">
              <a:alpha val="4000"/>
            </a:srgbClr>
          </a:solidFill>
          <a:ln/>
        </p:spPr>
      </p:sp>
      <p:sp>
        <p:nvSpPr>
          <p:cNvPr id="9" name="Text 7"/>
          <p:cNvSpPr/>
          <p:nvPr/>
        </p:nvSpPr>
        <p:spPr>
          <a:xfrm>
            <a:off x="624929" y="2266057"/>
            <a:ext cx="3463751" cy="198462"/>
          </a:xfrm>
          <a:prstGeom prst="rect">
            <a:avLst/>
          </a:prstGeom>
          <a:noFill/>
          <a:ln/>
        </p:spPr>
        <p:txBody>
          <a:bodyPr wrap="none" lIns="0" tIns="0" rIns="0" bIns="0" rtlCol="0" anchor="t"/>
          <a:lstStyle/>
          <a:p>
            <a:pPr marL="0" indent="0" algn="l">
              <a:lnSpc>
                <a:spcPct val="133000"/>
              </a:lnSpc>
              <a:buNone/>
            </a:pPr>
            <a:r>
              <a:rPr lang="en-US" sz="950" b="1" dirty="0">
                <a:solidFill>
                  <a:srgbClr val="2C3249"/>
                </a:solidFill>
                <a:latin typeface="Martel Sans" pitchFamily="34" charset="0"/>
                <a:ea typeface="Martel Sans" pitchFamily="34" charset="-122"/>
                <a:cs typeface="Martel Sans" pitchFamily="34" charset="-120"/>
              </a:rPr>
              <a:t>Database</a:t>
            </a:r>
            <a:endParaRPr lang="en-US" sz="950" dirty="0"/>
          </a:p>
        </p:txBody>
      </p:sp>
      <p:sp>
        <p:nvSpPr>
          <p:cNvPr id="10" name="Text 8"/>
          <p:cNvSpPr/>
          <p:nvPr/>
        </p:nvSpPr>
        <p:spPr>
          <a:xfrm>
            <a:off x="3884191" y="2266057"/>
            <a:ext cx="4634954"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C3249"/>
                </a:solidFill>
                <a:latin typeface="Martel Sans" pitchFamily="34" charset="0"/>
                <a:ea typeface="Martel Sans" pitchFamily="34" charset="-122"/>
                <a:cs typeface="Martel Sans" pitchFamily="34" charset="-120"/>
              </a:rPr>
              <a:t>MongoDB with Mongoose v9; atomic updates used to prevent race conditions on bookings</a:t>
            </a:r>
            <a:endParaRPr lang="en-US" sz="950" dirty="0"/>
          </a:p>
        </p:txBody>
      </p:sp>
      <p:sp>
        <p:nvSpPr>
          <p:cNvPr id="11" name="Shape 9"/>
          <p:cNvSpPr/>
          <p:nvPr/>
        </p:nvSpPr>
        <p:spPr>
          <a:xfrm>
            <a:off x="500881" y="2742158"/>
            <a:ext cx="8142238" cy="555278"/>
          </a:xfrm>
          <a:prstGeom prst="rect">
            <a:avLst/>
          </a:prstGeom>
          <a:solidFill>
            <a:srgbClr val="FFFFFF">
              <a:alpha val="4000"/>
            </a:srgbClr>
          </a:solidFill>
          <a:ln/>
        </p:spPr>
      </p:sp>
      <p:sp>
        <p:nvSpPr>
          <p:cNvPr id="12" name="Text 10"/>
          <p:cNvSpPr/>
          <p:nvPr/>
        </p:nvSpPr>
        <p:spPr>
          <a:xfrm>
            <a:off x="624929" y="2821335"/>
            <a:ext cx="3463751" cy="198462"/>
          </a:xfrm>
          <a:prstGeom prst="rect">
            <a:avLst/>
          </a:prstGeom>
          <a:noFill/>
          <a:ln/>
        </p:spPr>
        <p:txBody>
          <a:bodyPr wrap="none" lIns="0" tIns="0" rIns="0" bIns="0" rtlCol="0" anchor="t"/>
          <a:lstStyle/>
          <a:p>
            <a:pPr marL="0" indent="0" algn="l">
              <a:lnSpc>
                <a:spcPct val="133000"/>
              </a:lnSpc>
              <a:buNone/>
            </a:pPr>
            <a:r>
              <a:rPr lang="en-US" sz="950" b="1" dirty="0">
                <a:solidFill>
                  <a:srgbClr val="2C3249"/>
                </a:solidFill>
                <a:latin typeface="Martel Sans" pitchFamily="34" charset="0"/>
                <a:ea typeface="Martel Sans" pitchFamily="34" charset="-122"/>
                <a:cs typeface="Martel Sans" pitchFamily="34" charset="-120"/>
              </a:rPr>
              <a:t>Auth &amp; Security</a:t>
            </a:r>
            <a:endParaRPr lang="en-US" sz="950" dirty="0"/>
          </a:p>
        </p:txBody>
      </p:sp>
      <p:sp>
        <p:nvSpPr>
          <p:cNvPr id="13" name="Text 11"/>
          <p:cNvSpPr/>
          <p:nvPr/>
        </p:nvSpPr>
        <p:spPr>
          <a:xfrm>
            <a:off x="3884191" y="2821335"/>
            <a:ext cx="4634954"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C3249"/>
                </a:solidFill>
                <a:latin typeface="Martel Sans" pitchFamily="34" charset="0"/>
                <a:ea typeface="Martel Sans" pitchFamily="34" charset="-122"/>
                <a:cs typeface="Martel Sans" pitchFamily="34" charset="-120"/>
              </a:rPr>
              <a:t>JWT (7‑day tokens), bcryptjs, OTP via SHA‑256 hashing, Helmet CSP, rate limiting, express‑mongo‑sanitize</a:t>
            </a:r>
            <a:endParaRPr lang="en-US" sz="950" dirty="0"/>
          </a:p>
        </p:txBody>
      </p:sp>
      <p:sp>
        <p:nvSpPr>
          <p:cNvPr id="14" name="Shape 12"/>
          <p:cNvSpPr/>
          <p:nvPr/>
        </p:nvSpPr>
        <p:spPr>
          <a:xfrm>
            <a:off x="500881" y="3297436"/>
            <a:ext cx="8142238" cy="555278"/>
          </a:xfrm>
          <a:prstGeom prst="rect">
            <a:avLst/>
          </a:prstGeom>
          <a:solidFill>
            <a:srgbClr val="000000">
              <a:alpha val="4000"/>
            </a:srgbClr>
          </a:solidFill>
          <a:ln/>
        </p:spPr>
      </p:sp>
      <p:sp>
        <p:nvSpPr>
          <p:cNvPr id="15" name="Text 13"/>
          <p:cNvSpPr/>
          <p:nvPr/>
        </p:nvSpPr>
        <p:spPr>
          <a:xfrm>
            <a:off x="624929" y="3376613"/>
            <a:ext cx="3463751" cy="198462"/>
          </a:xfrm>
          <a:prstGeom prst="rect">
            <a:avLst/>
          </a:prstGeom>
          <a:noFill/>
          <a:ln/>
        </p:spPr>
        <p:txBody>
          <a:bodyPr wrap="none" lIns="0" tIns="0" rIns="0" bIns="0" rtlCol="0" anchor="t"/>
          <a:lstStyle/>
          <a:p>
            <a:pPr marL="0" indent="0" algn="l">
              <a:lnSpc>
                <a:spcPct val="133000"/>
              </a:lnSpc>
              <a:buNone/>
            </a:pPr>
            <a:r>
              <a:rPr lang="en-US" sz="950" b="1" dirty="0">
                <a:solidFill>
                  <a:srgbClr val="2C3249"/>
                </a:solidFill>
                <a:latin typeface="Martel Sans" pitchFamily="34" charset="0"/>
                <a:ea typeface="Martel Sans" pitchFamily="34" charset="-122"/>
                <a:cs typeface="Martel Sans" pitchFamily="34" charset="-120"/>
              </a:rPr>
              <a:t>Email &amp; QR</a:t>
            </a:r>
            <a:endParaRPr lang="en-US" sz="950" dirty="0"/>
          </a:p>
        </p:txBody>
      </p:sp>
      <p:sp>
        <p:nvSpPr>
          <p:cNvPr id="16" name="Text 14"/>
          <p:cNvSpPr/>
          <p:nvPr/>
        </p:nvSpPr>
        <p:spPr>
          <a:xfrm>
            <a:off x="3884191" y="3376613"/>
            <a:ext cx="4634954"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C3249"/>
                </a:solidFill>
                <a:latin typeface="Martel Sans" pitchFamily="34" charset="0"/>
                <a:ea typeface="Martel Sans" pitchFamily="34" charset="-122"/>
                <a:cs typeface="Martel Sans" pitchFamily="34" charset="-120"/>
              </a:rPr>
              <a:t>Brevo REST API for transactional email; qrcode npm library for PNG buffers at /api/bookings/qr/:token</a:t>
            </a:r>
            <a:endParaRPr lang="en-US" sz="950" dirty="0"/>
          </a:p>
        </p:txBody>
      </p:sp>
      <p:sp>
        <p:nvSpPr>
          <p:cNvPr id="17" name="Shape 15"/>
          <p:cNvSpPr/>
          <p:nvPr/>
        </p:nvSpPr>
        <p:spPr>
          <a:xfrm>
            <a:off x="500881" y="3852714"/>
            <a:ext cx="8142238" cy="753740"/>
          </a:xfrm>
          <a:prstGeom prst="rect">
            <a:avLst/>
          </a:prstGeom>
          <a:solidFill>
            <a:srgbClr val="FFFFFF">
              <a:alpha val="4000"/>
            </a:srgbClr>
          </a:solidFill>
          <a:ln/>
        </p:spPr>
      </p:sp>
      <p:sp>
        <p:nvSpPr>
          <p:cNvPr id="18" name="Text 16"/>
          <p:cNvSpPr/>
          <p:nvPr/>
        </p:nvSpPr>
        <p:spPr>
          <a:xfrm>
            <a:off x="624929" y="3931890"/>
            <a:ext cx="3463751" cy="198462"/>
          </a:xfrm>
          <a:prstGeom prst="rect">
            <a:avLst/>
          </a:prstGeom>
          <a:noFill/>
          <a:ln/>
        </p:spPr>
        <p:txBody>
          <a:bodyPr wrap="none" lIns="0" tIns="0" rIns="0" bIns="0" rtlCol="0" anchor="t"/>
          <a:lstStyle/>
          <a:p>
            <a:pPr marL="0" indent="0" algn="l">
              <a:lnSpc>
                <a:spcPct val="133000"/>
              </a:lnSpc>
              <a:buNone/>
            </a:pPr>
            <a:r>
              <a:rPr lang="en-US" sz="950" b="1" dirty="0">
                <a:solidFill>
                  <a:srgbClr val="2C3249"/>
                </a:solidFill>
                <a:latin typeface="Martel Sans" pitchFamily="34" charset="0"/>
                <a:ea typeface="Martel Sans" pitchFamily="34" charset="-122"/>
                <a:cs typeface="Martel Sans" pitchFamily="34" charset="-120"/>
              </a:rPr>
              <a:t>Frontend &amp; Deployment</a:t>
            </a:r>
            <a:endParaRPr lang="en-US" sz="950" dirty="0"/>
          </a:p>
        </p:txBody>
      </p:sp>
      <p:sp>
        <p:nvSpPr>
          <p:cNvPr id="19" name="Text 17"/>
          <p:cNvSpPr/>
          <p:nvPr/>
        </p:nvSpPr>
        <p:spPr>
          <a:xfrm>
            <a:off x="3884191" y="3931890"/>
            <a:ext cx="4634954"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C3249"/>
                </a:solidFill>
                <a:latin typeface="Martel Sans" pitchFamily="34" charset="0"/>
                <a:ea typeface="Martel Sans" pitchFamily="34" charset="-122"/>
                <a:cs typeface="Martel Sans" pitchFamily="34" charset="-120"/>
              </a:rPr>
              <a:t>Vanilla HTML/CSS/JS static files served from /public; deployed on Railway. Env vars: MONGO_URI, JWT_SECRET, BREVO_API_KEY, SENDER_EMAIL, CLIENT_URL</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133029" y="257696"/>
            <a:ext cx="2201540" cy="218033"/>
          </a:xfrm>
          <a:prstGeom prst="rect">
            <a:avLst/>
          </a:prstGeom>
          <a:noFill/>
          <a:ln/>
        </p:spPr>
        <p:txBody>
          <a:bodyPr wrap="none" lIns="0" tIns="0" rIns="0" bIns="0" rtlCol="0" anchor="t"/>
          <a:lstStyle/>
          <a:p>
            <a:pPr marL="0" indent="0" algn="l">
              <a:lnSpc>
                <a:spcPct val="104000"/>
              </a:lnSpc>
              <a:buNone/>
            </a:pPr>
            <a:r>
              <a:rPr lang="en-US" sz="1350" dirty="0">
                <a:solidFill>
                  <a:srgbClr val="272D45"/>
                </a:solidFill>
                <a:latin typeface="Kanit Light" pitchFamily="34" charset="0"/>
                <a:ea typeface="Kanit Light" pitchFamily="34" charset="-122"/>
                <a:cs typeface="Kanit Light" pitchFamily="34" charset="-120"/>
              </a:rPr>
              <a:t>System Architecture</a:t>
            </a:r>
            <a:endParaRPr lang="en-US" sz="1350" dirty="0"/>
          </a:p>
        </p:txBody>
      </p:sp>
      <p:sp>
        <p:nvSpPr>
          <p:cNvPr id="3" name="Text 1"/>
          <p:cNvSpPr/>
          <p:nvPr/>
        </p:nvSpPr>
        <p:spPr>
          <a:xfrm>
            <a:off x="1133029" y="598363"/>
            <a:ext cx="6877869" cy="237530"/>
          </a:xfrm>
          <a:prstGeom prst="rect">
            <a:avLst/>
          </a:prstGeom>
          <a:noFill/>
          <a:ln/>
        </p:spPr>
        <p:txBody>
          <a:bodyPr wrap="square" lIns="0" tIns="0" rIns="0" bIns="0" rtlCol="0" anchor="t">
            <a:normAutofit/>
          </a:bodyPr>
          <a:lstStyle/>
          <a:p>
            <a:pPr marL="0" indent="0" algn="l">
              <a:lnSpc>
                <a:spcPct val="114000"/>
              </a:lnSpc>
              <a:buNone/>
            </a:pPr>
            <a:r>
              <a:rPr lang="en-US" sz="650" dirty="0">
                <a:solidFill>
                  <a:srgbClr val="2C3249"/>
                </a:solidFill>
                <a:latin typeface="Martel Sans" pitchFamily="34" charset="0"/>
                <a:ea typeface="Martel Sans" pitchFamily="34" charset="-122"/>
                <a:cs typeface="Martel Sans" pitchFamily="34" charset="-120"/>
              </a:rPr>
              <a:t> Diagram (visual sketch) describes the flow between user devices, the Express server, API routes, middleware layers, MongoDB and external email provider. The QR verification endpoint enables quick venue checks without requiring attendee login. </a:t>
            </a:r>
            <a:endParaRPr lang="en-US" sz="650" dirty="0"/>
          </a:p>
        </p:txBody>
      </p:sp>
      <p:pic>
        <p:nvPicPr>
          <p:cNvPr id="4" name="Image 0" descr="preencoded.png"/>
          <p:cNvPicPr>
            <a:picLocks noChangeAspect="1"/>
          </p:cNvPicPr>
          <p:nvPr/>
        </p:nvPicPr>
        <p:blipFill>
          <a:blip r:embed="rId3"/>
          <a:stretch>
            <a:fillRect/>
          </a:stretch>
        </p:blipFill>
        <p:spPr>
          <a:xfrm>
            <a:off x="1152823" y="904875"/>
            <a:ext cx="6838206" cy="3674343"/>
          </a:xfrm>
          <a:prstGeom prst="rect">
            <a:avLst/>
          </a:prstGeom>
        </p:spPr>
      </p:pic>
      <p:sp>
        <p:nvSpPr>
          <p:cNvPr id="5" name="Text 2"/>
          <p:cNvSpPr/>
          <p:nvPr/>
        </p:nvSpPr>
        <p:spPr>
          <a:xfrm>
            <a:off x="1404698" y="1303129"/>
            <a:ext cx="1547479" cy="193435"/>
          </a:xfrm>
          <a:prstGeom prst="rect">
            <a:avLst/>
          </a:prstGeom>
          <a:noFill/>
          <a:ln/>
        </p:spPr>
        <p:txBody>
          <a:bodyPr wrap="none" lIns="0" tIns="0" rIns="0" bIns="0" rtlCol="0" anchor="t"/>
          <a:lstStyle/>
          <a:p>
            <a:pPr marL="0" indent="0" algn="r">
              <a:lnSpc>
                <a:spcPct val="104000"/>
              </a:lnSpc>
              <a:buNone/>
            </a:pPr>
            <a:r>
              <a:rPr lang="en-US" sz="1200" dirty="0">
                <a:solidFill>
                  <a:srgbClr val="2C3249"/>
                </a:solidFill>
                <a:latin typeface="Kanit Light" pitchFamily="34" charset="0"/>
                <a:ea typeface="Kanit Light" pitchFamily="34" charset="-122"/>
                <a:cs typeface="Kanit Light" pitchFamily="34" charset="-120"/>
              </a:rPr>
              <a:t>Client Browser</a:t>
            </a:r>
            <a:endParaRPr lang="en-US" sz="1200" dirty="0"/>
          </a:p>
        </p:txBody>
      </p:sp>
      <p:sp>
        <p:nvSpPr>
          <p:cNvPr id="6" name="Text 3"/>
          <p:cNvSpPr/>
          <p:nvPr/>
        </p:nvSpPr>
        <p:spPr>
          <a:xfrm>
            <a:off x="1315288" y="1551585"/>
            <a:ext cx="1636889" cy="263501"/>
          </a:xfrm>
          <a:prstGeom prst="rect">
            <a:avLst/>
          </a:prstGeom>
          <a:noFill/>
          <a:ln/>
        </p:spPr>
        <p:txBody>
          <a:bodyPr wrap="square" lIns="0" tIns="0" rIns="0" bIns="0" rtlCol="0" anchor="t">
            <a:normAutofit/>
          </a:bodyPr>
          <a:lstStyle/>
          <a:p>
            <a:pPr marL="0" indent="0" algn="r">
              <a:lnSpc>
                <a:spcPct val="89000"/>
              </a:lnSpc>
              <a:buNone/>
            </a:pPr>
            <a:r>
              <a:rPr lang="en-US" sz="950" dirty="0">
                <a:solidFill>
                  <a:srgbClr val="2C3249"/>
                </a:solidFill>
                <a:latin typeface="Martel Sans" pitchFamily="34" charset="0"/>
                <a:ea typeface="Martel Sans" pitchFamily="34" charset="-122"/>
                <a:cs typeface="Martel Sans" pitchFamily="34" charset="-120"/>
              </a:rPr>
              <a:t>Sends HTTP requests to the Express server.</a:t>
            </a:r>
            <a:endParaRPr lang="en-US" sz="950" dirty="0"/>
          </a:p>
        </p:txBody>
      </p:sp>
      <p:sp>
        <p:nvSpPr>
          <p:cNvPr id="7" name="Text 4"/>
          <p:cNvSpPr/>
          <p:nvPr/>
        </p:nvSpPr>
        <p:spPr>
          <a:xfrm>
            <a:off x="6191567" y="1825833"/>
            <a:ext cx="1547479" cy="193435"/>
          </a:xfrm>
          <a:prstGeom prst="rect">
            <a:avLst/>
          </a:prstGeom>
          <a:noFill/>
          <a:ln/>
        </p:spPr>
        <p:txBody>
          <a:bodyPr wrap="none" lIns="0" tIns="0" rIns="0" bIns="0" rtlCol="0" anchor="t"/>
          <a:lstStyle/>
          <a:p>
            <a:pPr marL="0" indent="0" algn="l">
              <a:lnSpc>
                <a:spcPct val="104000"/>
              </a:lnSpc>
              <a:buNone/>
            </a:pPr>
            <a:r>
              <a:rPr lang="en-US" sz="1200" dirty="0">
                <a:solidFill>
                  <a:srgbClr val="2C3249"/>
                </a:solidFill>
                <a:latin typeface="Kanit Light" pitchFamily="34" charset="0"/>
                <a:ea typeface="Kanit Light" pitchFamily="34" charset="-122"/>
                <a:cs typeface="Kanit Light" pitchFamily="34" charset="-120"/>
              </a:rPr>
              <a:t>Express Server</a:t>
            </a:r>
            <a:endParaRPr lang="en-US" sz="1200" dirty="0"/>
          </a:p>
        </p:txBody>
      </p:sp>
      <p:sp>
        <p:nvSpPr>
          <p:cNvPr id="8" name="Text 5"/>
          <p:cNvSpPr/>
          <p:nvPr/>
        </p:nvSpPr>
        <p:spPr>
          <a:xfrm>
            <a:off x="6191567" y="2074289"/>
            <a:ext cx="1636889" cy="395252"/>
          </a:xfrm>
          <a:prstGeom prst="rect">
            <a:avLst/>
          </a:prstGeom>
          <a:noFill/>
          <a:ln/>
        </p:spPr>
        <p:txBody>
          <a:bodyPr wrap="square" lIns="0" tIns="0" rIns="0" bIns="0" rtlCol="0" anchor="t">
            <a:normAutofit/>
          </a:bodyPr>
          <a:lstStyle/>
          <a:p>
            <a:pPr marL="0" indent="0" algn="l">
              <a:lnSpc>
                <a:spcPct val="89000"/>
              </a:lnSpc>
              <a:buNone/>
            </a:pPr>
            <a:r>
              <a:rPr lang="en-US" sz="950" dirty="0">
                <a:solidFill>
                  <a:srgbClr val="2C3249"/>
                </a:solidFill>
                <a:latin typeface="Martel Sans" pitchFamily="34" charset="0"/>
                <a:ea typeface="Martel Sans" pitchFamily="34" charset="-122"/>
                <a:cs typeface="Martel Sans" pitchFamily="34" charset="-120"/>
              </a:rPr>
              <a:t>Routes /api/users, /api/events, /api/bookings, /api/admin.</a:t>
            </a:r>
            <a:endParaRPr lang="en-US" sz="950" dirty="0"/>
          </a:p>
        </p:txBody>
      </p:sp>
      <p:sp>
        <p:nvSpPr>
          <p:cNvPr id="9" name="Text 6"/>
          <p:cNvSpPr/>
          <p:nvPr/>
        </p:nvSpPr>
        <p:spPr>
          <a:xfrm>
            <a:off x="1315288" y="2362292"/>
            <a:ext cx="1636889" cy="386870"/>
          </a:xfrm>
          <a:prstGeom prst="rect">
            <a:avLst/>
          </a:prstGeom>
          <a:noFill/>
          <a:ln/>
        </p:spPr>
        <p:txBody>
          <a:bodyPr wrap="square" lIns="0" tIns="0" rIns="0" bIns="0" rtlCol="0" anchor="t">
            <a:normAutofit/>
          </a:bodyPr>
          <a:lstStyle/>
          <a:p>
            <a:pPr marL="0" indent="0" algn="r">
              <a:lnSpc>
                <a:spcPct val="104000"/>
              </a:lnSpc>
              <a:buNone/>
            </a:pPr>
            <a:r>
              <a:rPr lang="en-US" sz="1200" dirty="0">
                <a:solidFill>
                  <a:srgbClr val="2C3249"/>
                </a:solidFill>
                <a:latin typeface="Kanit Light" pitchFamily="34" charset="0"/>
                <a:ea typeface="Kanit Light" pitchFamily="34" charset="-122"/>
                <a:cs typeface="Kanit Light" pitchFamily="34" charset="-120"/>
              </a:rPr>
              <a:t>Auth &amp; Admin Middleware</a:t>
            </a:r>
            <a:endParaRPr lang="en-US" sz="1200" dirty="0"/>
          </a:p>
        </p:txBody>
      </p:sp>
      <p:sp>
        <p:nvSpPr>
          <p:cNvPr id="10" name="Text 7"/>
          <p:cNvSpPr/>
          <p:nvPr/>
        </p:nvSpPr>
        <p:spPr>
          <a:xfrm>
            <a:off x="1315288" y="2804183"/>
            <a:ext cx="1636889" cy="395252"/>
          </a:xfrm>
          <a:prstGeom prst="rect">
            <a:avLst/>
          </a:prstGeom>
          <a:noFill/>
          <a:ln/>
        </p:spPr>
        <p:txBody>
          <a:bodyPr wrap="square" lIns="0" tIns="0" rIns="0" bIns="0" rtlCol="0" anchor="t">
            <a:normAutofit/>
          </a:bodyPr>
          <a:lstStyle/>
          <a:p>
            <a:pPr marL="0" indent="0" algn="r">
              <a:lnSpc>
                <a:spcPct val="89000"/>
              </a:lnSpc>
              <a:buNone/>
            </a:pPr>
            <a:r>
              <a:rPr lang="en-US" sz="950" dirty="0">
                <a:solidFill>
                  <a:srgbClr val="2C3249"/>
                </a:solidFill>
                <a:latin typeface="Martel Sans" pitchFamily="34" charset="0"/>
                <a:ea typeface="Martel Sans" pitchFamily="34" charset="-122"/>
                <a:cs typeface="Martel Sans" pitchFamily="34" charset="-120"/>
              </a:rPr>
              <a:t>Requests pass through auth and admin checks as applicable.</a:t>
            </a:r>
            <a:endParaRPr lang="en-US" sz="950" dirty="0"/>
          </a:p>
        </p:txBody>
      </p:sp>
      <p:sp>
        <p:nvSpPr>
          <p:cNvPr id="11" name="Text 8"/>
          <p:cNvSpPr/>
          <p:nvPr/>
        </p:nvSpPr>
        <p:spPr>
          <a:xfrm>
            <a:off x="6191567" y="2960651"/>
            <a:ext cx="1547479" cy="193435"/>
          </a:xfrm>
          <a:prstGeom prst="rect">
            <a:avLst/>
          </a:prstGeom>
          <a:noFill/>
          <a:ln/>
        </p:spPr>
        <p:txBody>
          <a:bodyPr wrap="none" lIns="0" tIns="0" rIns="0" bIns="0" rtlCol="0" anchor="t"/>
          <a:lstStyle/>
          <a:p>
            <a:pPr marL="0" indent="0" algn="l">
              <a:lnSpc>
                <a:spcPct val="104000"/>
              </a:lnSpc>
              <a:buNone/>
            </a:pPr>
            <a:r>
              <a:rPr lang="en-US" sz="1200" dirty="0">
                <a:solidFill>
                  <a:srgbClr val="2C3249"/>
                </a:solidFill>
                <a:latin typeface="Kanit Light" pitchFamily="34" charset="0"/>
                <a:ea typeface="Kanit Light" pitchFamily="34" charset="-122"/>
                <a:cs typeface="Kanit Light" pitchFamily="34" charset="-120"/>
              </a:rPr>
              <a:t>Data Persistence</a:t>
            </a:r>
            <a:endParaRPr lang="en-US" sz="1200" dirty="0"/>
          </a:p>
        </p:txBody>
      </p:sp>
      <p:sp>
        <p:nvSpPr>
          <p:cNvPr id="12" name="Text 9"/>
          <p:cNvSpPr/>
          <p:nvPr/>
        </p:nvSpPr>
        <p:spPr>
          <a:xfrm>
            <a:off x="6191567" y="3209107"/>
            <a:ext cx="1636889" cy="263501"/>
          </a:xfrm>
          <a:prstGeom prst="rect">
            <a:avLst/>
          </a:prstGeom>
          <a:noFill/>
          <a:ln/>
        </p:spPr>
        <p:txBody>
          <a:bodyPr wrap="square" lIns="0" tIns="0" rIns="0" bIns="0" rtlCol="0" anchor="t">
            <a:normAutofit/>
          </a:bodyPr>
          <a:lstStyle/>
          <a:p>
            <a:pPr marL="0" indent="0" algn="l">
              <a:lnSpc>
                <a:spcPct val="89000"/>
              </a:lnSpc>
              <a:buNone/>
            </a:pPr>
            <a:r>
              <a:rPr lang="en-US" sz="950" dirty="0">
                <a:solidFill>
                  <a:srgbClr val="2C3249"/>
                </a:solidFill>
                <a:latin typeface="Martel Sans" pitchFamily="34" charset="0"/>
                <a:ea typeface="Martel Sans" pitchFamily="34" charset="-122"/>
                <a:cs typeface="Martel Sans" pitchFamily="34" charset="-120"/>
              </a:rPr>
              <a:t>Server stores and retrieves data from MongoDB.</a:t>
            </a:r>
            <a:endParaRPr lang="en-US" sz="950" dirty="0"/>
          </a:p>
        </p:txBody>
      </p:sp>
      <p:sp>
        <p:nvSpPr>
          <p:cNvPr id="13" name="Text 10"/>
          <p:cNvSpPr/>
          <p:nvPr/>
        </p:nvSpPr>
        <p:spPr>
          <a:xfrm>
            <a:off x="1404698" y="3524621"/>
            <a:ext cx="1547479" cy="193435"/>
          </a:xfrm>
          <a:prstGeom prst="rect">
            <a:avLst/>
          </a:prstGeom>
          <a:noFill/>
          <a:ln/>
        </p:spPr>
        <p:txBody>
          <a:bodyPr wrap="none" lIns="0" tIns="0" rIns="0" bIns="0" rtlCol="0" anchor="t"/>
          <a:lstStyle/>
          <a:p>
            <a:pPr marL="0" indent="0" algn="r">
              <a:lnSpc>
                <a:spcPct val="104000"/>
              </a:lnSpc>
              <a:buNone/>
            </a:pPr>
            <a:r>
              <a:rPr lang="en-US" sz="1200" dirty="0">
                <a:solidFill>
                  <a:srgbClr val="2C3249"/>
                </a:solidFill>
                <a:latin typeface="Kanit Light" pitchFamily="34" charset="0"/>
                <a:ea typeface="Kanit Light" pitchFamily="34" charset="-122"/>
                <a:cs typeface="Kanit Light" pitchFamily="34" charset="-120"/>
              </a:rPr>
              <a:t>Booking &amp; Verification</a:t>
            </a:r>
            <a:endParaRPr lang="en-US" sz="1200" dirty="0"/>
          </a:p>
        </p:txBody>
      </p:sp>
      <p:sp>
        <p:nvSpPr>
          <p:cNvPr id="14" name="Text 11"/>
          <p:cNvSpPr/>
          <p:nvPr/>
        </p:nvSpPr>
        <p:spPr>
          <a:xfrm>
            <a:off x="1315288" y="3773077"/>
            <a:ext cx="1636889" cy="527002"/>
          </a:xfrm>
          <a:prstGeom prst="rect">
            <a:avLst/>
          </a:prstGeom>
          <a:noFill/>
          <a:ln/>
        </p:spPr>
        <p:txBody>
          <a:bodyPr wrap="square" lIns="0" tIns="0" rIns="0" bIns="0" rtlCol="0" anchor="t">
            <a:normAutofit/>
          </a:bodyPr>
          <a:lstStyle/>
          <a:p>
            <a:pPr marL="0" indent="0" algn="r">
              <a:lnSpc>
                <a:spcPct val="89000"/>
              </a:lnSpc>
              <a:buNone/>
            </a:pPr>
            <a:r>
              <a:rPr lang="en-US" sz="950" dirty="0">
                <a:solidFill>
                  <a:srgbClr val="2C3249"/>
                </a:solidFill>
                <a:latin typeface="Martel Sans" pitchFamily="34" charset="0"/>
                <a:ea typeface="Martel Sans" pitchFamily="34" charset="-122"/>
                <a:cs typeface="Martel Sans" pitchFamily="34" charset="-120"/>
              </a:rPr>
              <a:t>Bookings trigger Brevo emails; /api/bookings/verify/:token validates QR.</a:t>
            </a:r>
            <a:endParaRPr lang="en-US" sz="950" dirty="0"/>
          </a:p>
        </p:txBody>
      </p:sp>
      <p:sp>
        <p:nvSpPr>
          <p:cNvPr id="15" name="Text 12"/>
          <p:cNvSpPr/>
          <p:nvPr/>
        </p:nvSpPr>
        <p:spPr>
          <a:xfrm>
            <a:off x="1133029" y="4648200"/>
            <a:ext cx="6877869" cy="237530"/>
          </a:xfrm>
          <a:prstGeom prst="rect">
            <a:avLst/>
          </a:prstGeom>
          <a:noFill/>
          <a:ln/>
        </p:spPr>
        <p:txBody>
          <a:bodyPr wrap="square" lIns="0" tIns="0" rIns="0" bIns="0" rtlCol="0" anchor="t">
            <a:normAutofit/>
          </a:bodyPr>
          <a:lstStyle/>
          <a:p>
            <a:pPr marL="0" indent="0" algn="l">
              <a:lnSpc>
                <a:spcPct val="114000"/>
              </a:lnSpc>
              <a:buNone/>
            </a:pPr>
            <a:r>
              <a:rPr lang="en-US" sz="650" dirty="0">
                <a:solidFill>
                  <a:srgbClr val="2C3249"/>
                </a:solidFill>
                <a:latin typeface="Martel Sans" pitchFamily="34" charset="0"/>
                <a:ea typeface="Martel Sans" pitchFamily="34" charset="-122"/>
                <a:cs typeface="Martel Sans" pitchFamily="34" charset="-120"/>
              </a:rPr>
              <a:t> </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03759" y="263054"/>
            <a:ext cx="2317849" cy="232544"/>
          </a:xfrm>
          <a:prstGeom prst="rect">
            <a:avLst/>
          </a:prstGeom>
          <a:noFill/>
          <a:ln/>
        </p:spPr>
        <p:txBody>
          <a:bodyPr wrap="none" lIns="0" tIns="0" rIns="0" bIns="0" rtlCol="0" anchor="t"/>
          <a:lstStyle/>
          <a:p>
            <a:pPr marL="0" indent="0" algn="l">
              <a:lnSpc>
                <a:spcPct val="104000"/>
              </a:lnSpc>
              <a:buNone/>
            </a:pPr>
            <a:r>
              <a:rPr lang="en-US" sz="1450" dirty="0">
                <a:solidFill>
                  <a:srgbClr val="272D45"/>
                </a:solidFill>
                <a:latin typeface="Kanit Light" pitchFamily="34" charset="0"/>
                <a:ea typeface="Kanit Light" pitchFamily="34" charset="-122"/>
                <a:cs typeface="Kanit Light" pitchFamily="34" charset="-120"/>
              </a:rPr>
              <a:t>Development Journey</a:t>
            </a:r>
            <a:endParaRPr lang="en-US" sz="1450" dirty="0"/>
          </a:p>
        </p:txBody>
      </p:sp>
      <p:sp>
        <p:nvSpPr>
          <p:cNvPr id="3" name="Text 1"/>
          <p:cNvSpPr/>
          <p:nvPr/>
        </p:nvSpPr>
        <p:spPr>
          <a:xfrm>
            <a:off x="903759" y="635124"/>
            <a:ext cx="7336408" cy="260449"/>
          </a:xfrm>
          <a:prstGeom prst="rect">
            <a:avLst/>
          </a:prstGeom>
          <a:noFill/>
          <a:ln/>
        </p:spPr>
        <p:txBody>
          <a:bodyPr wrap="square" lIns="0" tIns="0" rIns="0" bIns="0" rtlCol="0" anchor="t">
            <a:normAutofit/>
          </a:bodyPr>
          <a:lstStyle/>
          <a:p>
            <a:pPr marL="0" indent="0" algn="l">
              <a:lnSpc>
                <a:spcPct val="117000"/>
              </a:lnSpc>
              <a:buNone/>
            </a:pPr>
            <a:r>
              <a:rPr lang="en-US" sz="700" dirty="0">
                <a:solidFill>
                  <a:srgbClr val="2C3249"/>
                </a:solidFill>
                <a:latin typeface="Martel Sans" pitchFamily="34" charset="0"/>
                <a:ea typeface="Martel Sans" pitchFamily="34" charset="-122"/>
                <a:cs typeface="Martel Sans" pitchFamily="34" charset="-120"/>
              </a:rPr>
              <a:t> The project progressed through defined milestones from foundation to production readiness. We tracked progress via commits and iterative releases, addressing security, reliability and feature completeness along the way. </a:t>
            </a:r>
            <a:endParaRPr lang="en-US" sz="700" dirty="0"/>
          </a:p>
        </p:txBody>
      </p:sp>
      <p:sp>
        <p:nvSpPr>
          <p:cNvPr id="4" name="Shape 2"/>
          <p:cNvSpPr/>
          <p:nvPr/>
        </p:nvSpPr>
        <p:spPr>
          <a:xfrm>
            <a:off x="903759" y="974006"/>
            <a:ext cx="93018" cy="558180"/>
          </a:xfrm>
          <a:prstGeom prst="roundRect">
            <a:avLst>
              <a:gd name="adj" fmla="val 42008"/>
            </a:avLst>
          </a:prstGeom>
          <a:solidFill>
            <a:srgbClr val="DFECE9"/>
          </a:solidFill>
          <a:ln w="4763">
            <a:solidFill>
              <a:srgbClr val="C5D2CF"/>
            </a:solidFill>
            <a:prstDash val="solid"/>
          </a:ln>
        </p:spPr>
      </p:sp>
      <p:sp>
        <p:nvSpPr>
          <p:cNvPr id="5" name="Text 3"/>
          <p:cNvSpPr/>
          <p:nvPr/>
        </p:nvSpPr>
        <p:spPr>
          <a:xfrm>
            <a:off x="1066502" y="1067023"/>
            <a:ext cx="1162869" cy="145331"/>
          </a:xfrm>
          <a:prstGeom prst="rect">
            <a:avLst/>
          </a:prstGeom>
          <a:noFill/>
          <a:ln/>
        </p:spPr>
        <p:txBody>
          <a:bodyPr wrap="none" lIns="0" tIns="0" rIns="0" bIns="0" rtlCol="0" anchor="t"/>
          <a:lstStyle/>
          <a:p>
            <a:pPr marL="0" indent="0" algn="l">
              <a:lnSpc>
                <a:spcPct val="104000"/>
              </a:lnSpc>
              <a:buNone/>
            </a:pPr>
            <a:r>
              <a:rPr lang="en-US" sz="900" dirty="0">
                <a:solidFill>
                  <a:srgbClr val="2C3249"/>
                </a:solidFill>
                <a:latin typeface="Kanit Light" pitchFamily="34" charset="0"/>
                <a:ea typeface="Kanit Light" pitchFamily="34" charset="-122"/>
                <a:cs typeface="Kanit Light" pitchFamily="34" charset="-120"/>
              </a:rPr>
              <a:t>Step 1 — Foundation</a:t>
            </a:r>
            <a:endParaRPr lang="en-US" sz="900" dirty="0"/>
          </a:p>
        </p:txBody>
      </p:sp>
      <p:sp>
        <p:nvSpPr>
          <p:cNvPr id="6" name="Text 4"/>
          <p:cNvSpPr/>
          <p:nvPr/>
        </p:nvSpPr>
        <p:spPr>
          <a:xfrm>
            <a:off x="1066502" y="1254175"/>
            <a:ext cx="7173664" cy="130225"/>
          </a:xfrm>
          <a:prstGeom prst="rect">
            <a:avLst/>
          </a:prstGeom>
          <a:noFill/>
          <a:ln/>
        </p:spPr>
        <p:txBody>
          <a:bodyPr wrap="none" lIns="0" tIns="0" rIns="0" bIns="0" rtlCol="0" anchor="t"/>
          <a:lstStyle/>
          <a:p>
            <a:pPr marL="0" indent="0" algn="l">
              <a:lnSpc>
                <a:spcPct val="117000"/>
              </a:lnSpc>
              <a:buNone/>
            </a:pPr>
            <a:r>
              <a:rPr lang="en-US" sz="700" dirty="0">
                <a:solidFill>
                  <a:srgbClr val="2C3249"/>
                </a:solidFill>
                <a:latin typeface="Martel Sans" pitchFamily="34" charset="0"/>
                <a:ea typeface="Martel Sans" pitchFamily="34" charset="-122"/>
                <a:cs typeface="Martel Sans" pitchFamily="34" charset="-120"/>
              </a:rPr>
              <a:t>Initial commit, project scaffolding and JWT authentication implemented.</a:t>
            </a:r>
            <a:endParaRPr lang="en-US" sz="700" dirty="0"/>
          </a:p>
        </p:txBody>
      </p:sp>
      <p:sp>
        <p:nvSpPr>
          <p:cNvPr id="7" name="Shape 5"/>
          <p:cNvSpPr/>
          <p:nvPr/>
        </p:nvSpPr>
        <p:spPr>
          <a:xfrm>
            <a:off x="1043285" y="1601912"/>
            <a:ext cx="93018" cy="558180"/>
          </a:xfrm>
          <a:prstGeom prst="roundRect">
            <a:avLst>
              <a:gd name="adj" fmla="val 42008"/>
            </a:avLst>
          </a:prstGeom>
          <a:solidFill>
            <a:srgbClr val="DFECE9"/>
          </a:solidFill>
          <a:ln w="4763">
            <a:solidFill>
              <a:srgbClr val="C5D2CF"/>
            </a:solidFill>
            <a:prstDash val="solid"/>
          </a:ln>
        </p:spPr>
      </p:sp>
      <p:sp>
        <p:nvSpPr>
          <p:cNvPr id="8" name="Text 6"/>
          <p:cNvSpPr/>
          <p:nvPr/>
        </p:nvSpPr>
        <p:spPr>
          <a:xfrm>
            <a:off x="1206029" y="1694929"/>
            <a:ext cx="1176114" cy="145331"/>
          </a:xfrm>
          <a:prstGeom prst="rect">
            <a:avLst/>
          </a:prstGeom>
          <a:noFill/>
          <a:ln/>
        </p:spPr>
        <p:txBody>
          <a:bodyPr wrap="none" lIns="0" tIns="0" rIns="0" bIns="0" rtlCol="0" anchor="t"/>
          <a:lstStyle/>
          <a:p>
            <a:pPr marL="0" indent="0" algn="l">
              <a:lnSpc>
                <a:spcPct val="104000"/>
              </a:lnSpc>
              <a:buNone/>
            </a:pPr>
            <a:r>
              <a:rPr lang="en-US" sz="900" dirty="0">
                <a:solidFill>
                  <a:srgbClr val="2C3249"/>
                </a:solidFill>
                <a:latin typeface="Kanit Light" pitchFamily="34" charset="0"/>
                <a:ea typeface="Kanit Light" pitchFamily="34" charset="-122"/>
                <a:cs typeface="Kanit Light" pitchFamily="34" charset="-120"/>
              </a:rPr>
              <a:t>Step 2 — Core Features</a:t>
            </a:r>
            <a:endParaRPr lang="en-US" sz="900" dirty="0"/>
          </a:p>
        </p:txBody>
      </p:sp>
      <p:sp>
        <p:nvSpPr>
          <p:cNvPr id="9" name="Text 7"/>
          <p:cNvSpPr/>
          <p:nvPr/>
        </p:nvSpPr>
        <p:spPr>
          <a:xfrm>
            <a:off x="1206029" y="1882080"/>
            <a:ext cx="7034138" cy="130225"/>
          </a:xfrm>
          <a:prstGeom prst="rect">
            <a:avLst/>
          </a:prstGeom>
          <a:noFill/>
          <a:ln/>
        </p:spPr>
        <p:txBody>
          <a:bodyPr wrap="none" lIns="0" tIns="0" rIns="0" bIns="0" rtlCol="0" anchor="t"/>
          <a:lstStyle/>
          <a:p>
            <a:pPr marL="0" indent="0" algn="l">
              <a:lnSpc>
                <a:spcPct val="117000"/>
              </a:lnSpc>
              <a:buNone/>
            </a:pPr>
            <a:r>
              <a:rPr lang="en-US" sz="700" dirty="0">
                <a:solidFill>
                  <a:srgbClr val="2C3249"/>
                </a:solidFill>
                <a:latin typeface="Martel Sans" pitchFamily="34" charset="0"/>
                <a:ea typeface="Martel Sans" pitchFamily="34" charset="-122"/>
                <a:cs typeface="Martel Sans" pitchFamily="34" charset="-120"/>
              </a:rPr>
              <a:t>Payments, profiles and signup flows added; security issues fixed and deployment adjustments applied.</a:t>
            </a:r>
            <a:endParaRPr lang="en-US" sz="700" dirty="0"/>
          </a:p>
        </p:txBody>
      </p:sp>
      <p:sp>
        <p:nvSpPr>
          <p:cNvPr id="10" name="Shape 8"/>
          <p:cNvSpPr/>
          <p:nvPr/>
        </p:nvSpPr>
        <p:spPr>
          <a:xfrm>
            <a:off x="1182812" y="2229817"/>
            <a:ext cx="93018" cy="558180"/>
          </a:xfrm>
          <a:prstGeom prst="roundRect">
            <a:avLst>
              <a:gd name="adj" fmla="val 42008"/>
            </a:avLst>
          </a:prstGeom>
          <a:solidFill>
            <a:srgbClr val="DFECE9"/>
          </a:solidFill>
          <a:ln w="4763">
            <a:solidFill>
              <a:srgbClr val="C5D2CF"/>
            </a:solidFill>
            <a:prstDash val="solid"/>
          </a:ln>
        </p:spPr>
      </p:sp>
      <p:sp>
        <p:nvSpPr>
          <p:cNvPr id="11" name="Text 9"/>
          <p:cNvSpPr/>
          <p:nvPr/>
        </p:nvSpPr>
        <p:spPr>
          <a:xfrm>
            <a:off x="1345555" y="2322835"/>
            <a:ext cx="1232669" cy="145331"/>
          </a:xfrm>
          <a:prstGeom prst="rect">
            <a:avLst/>
          </a:prstGeom>
          <a:noFill/>
          <a:ln/>
        </p:spPr>
        <p:txBody>
          <a:bodyPr wrap="none" lIns="0" tIns="0" rIns="0" bIns="0" rtlCol="0" anchor="t"/>
          <a:lstStyle/>
          <a:p>
            <a:pPr marL="0" indent="0" algn="l">
              <a:lnSpc>
                <a:spcPct val="104000"/>
              </a:lnSpc>
              <a:buNone/>
            </a:pPr>
            <a:r>
              <a:rPr lang="en-US" sz="900" dirty="0">
                <a:solidFill>
                  <a:srgbClr val="2C3249"/>
                </a:solidFill>
                <a:latin typeface="Kanit Light" pitchFamily="34" charset="0"/>
                <a:ea typeface="Kanit Light" pitchFamily="34" charset="-122"/>
                <a:cs typeface="Kanit Light" pitchFamily="34" charset="-120"/>
              </a:rPr>
              <a:t>Step 3 — Enhancements</a:t>
            </a:r>
            <a:endParaRPr lang="en-US" sz="900" dirty="0"/>
          </a:p>
        </p:txBody>
      </p:sp>
      <p:sp>
        <p:nvSpPr>
          <p:cNvPr id="12" name="Text 10"/>
          <p:cNvSpPr/>
          <p:nvPr/>
        </p:nvSpPr>
        <p:spPr>
          <a:xfrm>
            <a:off x="1345555" y="2509986"/>
            <a:ext cx="6894612" cy="130225"/>
          </a:xfrm>
          <a:prstGeom prst="rect">
            <a:avLst/>
          </a:prstGeom>
          <a:noFill/>
          <a:ln/>
        </p:spPr>
        <p:txBody>
          <a:bodyPr wrap="none" lIns="0" tIns="0" rIns="0" bIns="0" rtlCol="0" anchor="t"/>
          <a:lstStyle/>
          <a:p>
            <a:pPr marL="0" indent="0" algn="l">
              <a:lnSpc>
                <a:spcPct val="117000"/>
              </a:lnSpc>
              <a:buNone/>
            </a:pPr>
            <a:r>
              <a:rPr lang="en-US" sz="700" dirty="0">
                <a:solidFill>
                  <a:srgbClr val="2C3249"/>
                </a:solidFill>
                <a:latin typeface="Martel Sans" pitchFamily="34" charset="0"/>
                <a:ea typeface="Martel Sans" pitchFamily="34" charset="-122"/>
                <a:cs typeface="Martel Sans" pitchFamily="34" charset="-120"/>
              </a:rPr>
              <a:t>Search and filters, booking confirmation emails with QR codes integrated.</a:t>
            </a:r>
            <a:endParaRPr lang="en-US" sz="700" dirty="0"/>
          </a:p>
        </p:txBody>
      </p:sp>
      <p:sp>
        <p:nvSpPr>
          <p:cNvPr id="13" name="Shape 11"/>
          <p:cNvSpPr/>
          <p:nvPr/>
        </p:nvSpPr>
        <p:spPr>
          <a:xfrm>
            <a:off x="1322412" y="2857723"/>
            <a:ext cx="93018" cy="558180"/>
          </a:xfrm>
          <a:prstGeom prst="roundRect">
            <a:avLst>
              <a:gd name="adj" fmla="val 42008"/>
            </a:avLst>
          </a:prstGeom>
          <a:solidFill>
            <a:srgbClr val="DFECE9"/>
          </a:solidFill>
          <a:ln w="4763">
            <a:solidFill>
              <a:srgbClr val="C5D2CF"/>
            </a:solidFill>
            <a:prstDash val="solid"/>
          </a:ln>
        </p:spPr>
      </p:sp>
      <p:sp>
        <p:nvSpPr>
          <p:cNvPr id="14" name="Text 12"/>
          <p:cNvSpPr/>
          <p:nvPr/>
        </p:nvSpPr>
        <p:spPr>
          <a:xfrm>
            <a:off x="1485156" y="2950741"/>
            <a:ext cx="1162869" cy="145331"/>
          </a:xfrm>
          <a:prstGeom prst="rect">
            <a:avLst/>
          </a:prstGeom>
          <a:noFill/>
          <a:ln/>
        </p:spPr>
        <p:txBody>
          <a:bodyPr wrap="none" lIns="0" tIns="0" rIns="0" bIns="0" rtlCol="0" anchor="t"/>
          <a:lstStyle/>
          <a:p>
            <a:pPr marL="0" indent="0" algn="l">
              <a:lnSpc>
                <a:spcPct val="104000"/>
              </a:lnSpc>
              <a:buNone/>
            </a:pPr>
            <a:r>
              <a:rPr lang="en-US" sz="900" dirty="0">
                <a:solidFill>
                  <a:srgbClr val="2C3249"/>
                </a:solidFill>
                <a:latin typeface="Kanit Light" pitchFamily="34" charset="0"/>
                <a:ea typeface="Kanit Light" pitchFamily="34" charset="-122"/>
                <a:cs typeface="Kanit Light" pitchFamily="34" charset="-120"/>
              </a:rPr>
              <a:t>Step 4 — QR &amp; Email</a:t>
            </a:r>
            <a:endParaRPr lang="en-US" sz="900" dirty="0"/>
          </a:p>
        </p:txBody>
      </p:sp>
      <p:sp>
        <p:nvSpPr>
          <p:cNvPr id="15" name="Text 13"/>
          <p:cNvSpPr/>
          <p:nvPr/>
        </p:nvSpPr>
        <p:spPr>
          <a:xfrm>
            <a:off x="1485156" y="3137892"/>
            <a:ext cx="6755011" cy="130225"/>
          </a:xfrm>
          <a:prstGeom prst="rect">
            <a:avLst/>
          </a:prstGeom>
          <a:noFill/>
          <a:ln/>
        </p:spPr>
        <p:txBody>
          <a:bodyPr wrap="none" lIns="0" tIns="0" rIns="0" bIns="0" rtlCol="0" anchor="t"/>
          <a:lstStyle/>
          <a:p>
            <a:pPr marL="0" indent="0" algn="l">
              <a:lnSpc>
                <a:spcPct val="117000"/>
              </a:lnSpc>
              <a:buNone/>
            </a:pPr>
            <a:r>
              <a:rPr lang="en-US" sz="700" dirty="0">
                <a:solidFill>
                  <a:srgbClr val="2C3249"/>
                </a:solidFill>
                <a:latin typeface="Martel Sans" pitchFamily="34" charset="0"/>
                <a:ea typeface="Martel Sans" pitchFamily="34" charset="-122"/>
                <a:cs typeface="Martel Sans" pitchFamily="34" charset="-120"/>
              </a:rPr>
              <a:t>QR generation stabilised and Brevo integration completed (replaced Resend service).</a:t>
            </a:r>
            <a:endParaRPr lang="en-US" sz="700" dirty="0"/>
          </a:p>
        </p:txBody>
      </p:sp>
      <p:sp>
        <p:nvSpPr>
          <p:cNvPr id="16" name="Shape 14"/>
          <p:cNvSpPr/>
          <p:nvPr/>
        </p:nvSpPr>
        <p:spPr>
          <a:xfrm>
            <a:off x="1182812" y="3485629"/>
            <a:ext cx="93018" cy="558180"/>
          </a:xfrm>
          <a:prstGeom prst="roundRect">
            <a:avLst>
              <a:gd name="adj" fmla="val 42008"/>
            </a:avLst>
          </a:prstGeom>
          <a:solidFill>
            <a:srgbClr val="DFECE9"/>
          </a:solidFill>
          <a:ln w="4763">
            <a:solidFill>
              <a:srgbClr val="C5D2CF"/>
            </a:solidFill>
            <a:prstDash val="solid"/>
          </a:ln>
        </p:spPr>
      </p:sp>
      <p:sp>
        <p:nvSpPr>
          <p:cNvPr id="17" name="Text 15"/>
          <p:cNvSpPr/>
          <p:nvPr/>
        </p:nvSpPr>
        <p:spPr>
          <a:xfrm>
            <a:off x="1345555" y="3578647"/>
            <a:ext cx="1278136" cy="145331"/>
          </a:xfrm>
          <a:prstGeom prst="rect">
            <a:avLst/>
          </a:prstGeom>
          <a:noFill/>
          <a:ln/>
        </p:spPr>
        <p:txBody>
          <a:bodyPr wrap="none" lIns="0" tIns="0" rIns="0" bIns="0" rtlCol="0" anchor="t"/>
          <a:lstStyle/>
          <a:p>
            <a:pPr marL="0" indent="0" algn="l">
              <a:lnSpc>
                <a:spcPct val="104000"/>
              </a:lnSpc>
              <a:buNone/>
            </a:pPr>
            <a:r>
              <a:rPr lang="en-US" sz="900" dirty="0">
                <a:solidFill>
                  <a:srgbClr val="2C3249"/>
                </a:solidFill>
                <a:latin typeface="Kanit Light" pitchFamily="34" charset="0"/>
                <a:ea typeface="Kanit Light" pitchFamily="34" charset="-122"/>
                <a:cs typeface="Kanit Light" pitchFamily="34" charset="-120"/>
              </a:rPr>
              <a:t>Step 5 — Auth Hardening</a:t>
            </a:r>
            <a:endParaRPr lang="en-US" sz="900" dirty="0"/>
          </a:p>
        </p:txBody>
      </p:sp>
      <p:sp>
        <p:nvSpPr>
          <p:cNvPr id="18" name="Text 16"/>
          <p:cNvSpPr/>
          <p:nvPr/>
        </p:nvSpPr>
        <p:spPr>
          <a:xfrm>
            <a:off x="1345555" y="3765798"/>
            <a:ext cx="6894612" cy="130225"/>
          </a:xfrm>
          <a:prstGeom prst="rect">
            <a:avLst/>
          </a:prstGeom>
          <a:noFill/>
          <a:ln/>
        </p:spPr>
        <p:txBody>
          <a:bodyPr wrap="none" lIns="0" tIns="0" rIns="0" bIns="0" rtlCol="0" anchor="t"/>
          <a:lstStyle/>
          <a:p>
            <a:pPr marL="0" indent="0" algn="l">
              <a:lnSpc>
                <a:spcPct val="117000"/>
              </a:lnSpc>
              <a:buNone/>
            </a:pPr>
            <a:r>
              <a:rPr lang="en-US" sz="700" dirty="0">
                <a:solidFill>
                  <a:srgbClr val="2C3249"/>
                </a:solidFill>
                <a:latin typeface="Martel Sans" pitchFamily="34" charset="0"/>
                <a:ea typeface="Martel Sans" pitchFamily="34" charset="-122"/>
                <a:cs typeface="Martel Sans" pitchFamily="34" charset="-120"/>
              </a:rPr>
              <a:t>OTP reliability fixes; OTP tied to user ID; rate limits and failure thresholds enforced.</a:t>
            </a:r>
            <a:endParaRPr lang="en-US" sz="700" dirty="0"/>
          </a:p>
        </p:txBody>
      </p:sp>
      <p:sp>
        <p:nvSpPr>
          <p:cNvPr id="19" name="Shape 17"/>
          <p:cNvSpPr/>
          <p:nvPr/>
        </p:nvSpPr>
        <p:spPr>
          <a:xfrm>
            <a:off x="1043285" y="4113535"/>
            <a:ext cx="93018" cy="558180"/>
          </a:xfrm>
          <a:prstGeom prst="roundRect">
            <a:avLst>
              <a:gd name="adj" fmla="val 42008"/>
            </a:avLst>
          </a:prstGeom>
          <a:solidFill>
            <a:srgbClr val="DFECE9"/>
          </a:solidFill>
          <a:ln w="4763">
            <a:solidFill>
              <a:srgbClr val="C5D2CF"/>
            </a:solidFill>
            <a:prstDash val="solid"/>
          </a:ln>
        </p:spPr>
      </p:sp>
      <p:sp>
        <p:nvSpPr>
          <p:cNvPr id="20" name="Text 18"/>
          <p:cNvSpPr/>
          <p:nvPr/>
        </p:nvSpPr>
        <p:spPr>
          <a:xfrm>
            <a:off x="1206029" y="4206553"/>
            <a:ext cx="1162869" cy="145331"/>
          </a:xfrm>
          <a:prstGeom prst="rect">
            <a:avLst/>
          </a:prstGeom>
          <a:noFill/>
          <a:ln/>
        </p:spPr>
        <p:txBody>
          <a:bodyPr wrap="none" lIns="0" tIns="0" rIns="0" bIns="0" rtlCol="0" anchor="t"/>
          <a:lstStyle/>
          <a:p>
            <a:pPr marL="0" indent="0" algn="l">
              <a:lnSpc>
                <a:spcPct val="104000"/>
              </a:lnSpc>
              <a:buNone/>
            </a:pPr>
            <a:r>
              <a:rPr lang="en-US" sz="900" dirty="0">
                <a:solidFill>
                  <a:srgbClr val="2C3249"/>
                </a:solidFill>
                <a:latin typeface="Kanit Light" pitchFamily="34" charset="0"/>
                <a:ea typeface="Kanit Light" pitchFamily="34" charset="-122"/>
                <a:cs typeface="Kanit Light" pitchFamily="34" charset="-120"/>
              </a:rPr>
              <a:t>Step 6 — Admin Panel</a:t>
            </a:r>
            <a:endParaRPr lang="en-US" sz="900" dirty="0"/>
          </a:p>
        </p:txBody>
      </p:sp>
      <p:sp>
        <p:nvSpPr>
          <p:cNvPr id="21" name="Text 19"/>
          <p:cNvSpPr/>
          <p:nvPr/>
        </p:nvSpPr>
        <p:spPr>
          <a:xfrm>
            <a:off x="1206029" y="4393704"/>
            <a:ext cx="7034138" cy="130225"/>
          </a:xfrm>
          <a:prstGeom prst="rect">
            <a:avLst/>
          </a:prstGeom>
          <a:noFill/>
          <a:ln/>
        </p:spPr>
        <p:txBody>
          <a:bodyPr wrap="none" lIns="0" tIns="0" rIns="0" bIns="0" rtlCol="0" anchor="t"/>
          <a:lstStyle/>
          <a:p>
            <a:pPr marL="0" indent="0" algn="l">
              <a:lnSpc>
                <a:spcPct val="117000"/>
              </a:lnSpc>
              <a:buNone/>
            </a:pPr>
            <a:r>
              <a:rPr lang="en-US" sz="700" dirty="0">
                <a:solidFill>
                  <a:srgbClr val="2C3249"/>
                </a:solidFill>
                <a:latin typeface="Martel Sans" pitchFamily="34" charset="0"/>
                <a:ea typeface="Martel Sans" pitchFamily="34" charset="-122"/>
                <a:cs typeface="Martel Sans" pitchFamily="34" charset="-120"/>
              </a:rPr>
              <a:t>Admin stats endpoints and UI fixes deployed; final bugfix commit d03635c closed flicker issues.</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1093366"/>
            <a:ext cx="3061469" cy="310083"/>
          </a:xfrm>
          <a:prstGeom prst="rect">
            <a:avLst/>
          </a:prstGeom>
          <a:noFill/>
          <a:ln/>
        </p:spPr>
        <p:txBody>
          <a:bodyPr wrap="none" lIns="0" tIns="0" rIns="0" bIns="0" rtlCol="0" anchor="t"/>
          <a:lstStyle/>
          <a:p>
            <a:pPr marL="0" indent="0" algn="l">
              <a:lnSpc>
                <a:spcPct val="104000"/>
              </a:lnSpc>
              <a:buNone/>
            </a:pPr>
            <a:r>
              <a:rPr lang="en-US" sz="1950" dirty="0">
                <a:solidFill>
                  <a:srgbClr val="272D45"/>
                </a:solidFill>
                <a:latin typeface="Kanit Light" pitchFamily="34" charset="0"/>
                <a:ea typeface="Kanit Light" pitchFamily="34" charset="-122"/>
                <a:cs typeface="Kanit Light" pitchFamily="34" charset="-120"/>
              </a:rPr>
              <a:t>Achievements &amp; Results</a:t>
            </a:r>
            <a:endParaRPr lang="en-US" sz="1950" dirty="0"/>
          </a:p>
        </p:txBody>
      </p:sp>
      <p:sp>
        <p:nvSpPr>
          <p:cNvPr id="3" name="Text 1"/>
          <p:cNvSpPr/>
          <p:nvPr/>
        </p:nvSpPr>
        <p:spPr>
          <a:xfrm>
            <a:off x="496119" y="1651471"/>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C3249"/>
                </a:solidFill>
                <a:latin typeface="Martel Sans" pitchFamily="34" charset="0"/>
                <a:ea typeface="Martel Sans" pitchFamily="34" charset="-122"/>
                <a:cs typeface="Martel Sans" pitchFamily="34" charset="-120"/>
              </a:rPr>
              <a:t> The final product fulfils the initial brief and demonstrates operational robustness, security and user experience polish. Key technical and product achievements are listed below. </a:t>
            </a:r>
            <a:endParaRPr lang="en-US" sz="950" dirty="0"/>
          </a:p>
        </p:txBody>
      </p:sp>
      <p:sp>
        <p:nvSpPr>
          <p:cNvPr id="4" name="Shape 2"/>
          <p:cNvSpPr/>
          <p:nvPr/>
        </p:nvSpPr>
        <p:spPr>
          <a:xfrm>
            <a:off x="496119" y="2187922"/>
            <a:ext cx="279053" cy="279053"/>
          </a:xfrm>
          <a:prstGeom prst="roundRect">
            <a:avLst>
              <a:gd name="adj" fmla="val 18670"/>
            </a:avLst>
          </a:prstGeom>
          <a:solidFill>
            <a:srgbClr val="DFECE9"/>
          </a:solidFill>
          <a:ln w="4763">
            <a:solidFill>
              <a:srgbClr val="C5D2CF"/>
            </a:solidFill>
            <a:prstDash val="solid"/>
          </a:ln>
        </p:spPr>
      </p:sp>
      <p:sp>
        <p:nvSpPr>
          <p:cNvPr id="5" name="Text 3"/>
          <p:cNvSpPr/>
          <p:nvPr/>
        </p:nvSpPr>
        <p:spPr>
          <a:xfrm>
            <a:off x="899145" y="2230562"/>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2C3249"/>
                </a:solidFill>
                <a:latin typeface="Kanit Light" pitchFamily="34" charset="0"/>
                <a:ea typeface="Kanit Light" pitchFamily="34" charset="-122"/>
                <a:cs typeface="Kanit Light" pitchFamily="34" charset="-120"/>
              </a:rPr>
              <a:t>End‑to‑end booking</a:t>
            </a:r>
            <a:endParaRPr lang="en-US" sz="1200" dirty="0"/>
          </a:p>
        </p:txBody>
      </p:sp>
      <p:sp>
        <p:nvSpPr>
          <p:cNvPr id="6" name="Text 4"/>
          <p:cNvSpPr/>
          <p:nvPr/>
        </p:nvSpPr>
        <p:spPr>
          <a:xfrm>
            <a:off x="899145" y="2498824"/>
            <a:ext cx="3595315"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C3249"/>
                </a:solidFill>
                <a:latin typeface="Martel Sans" pitchFamily="34" charset="0"/>
                <a:ea typeface="Martel Sans" pitchFamily="34" charset="-122"/>
                <a:cs typeface="Martel Sans" pitchFamily="34" charset="-120"/>
              </a:rPr>
              <a:t>From OTP registration to QR ticket delivery — fully automated flows for card and tracked cash payments.</a:t>
            </a:r>
            <a:endParaRPr lang="en-US" sz="950" dirty="0"/>
          </a:p>
        </p:txBody>
      </p:sp>
      <p:sp>
        <p:nvSpPr>
          <p:cNvPr id="7" name="Shape 5"/>
          <p:cNvSpPr/>
          <p:nvPr/>
        </p:nvSpPr>
        <p:spPr>
          <a:xfrm>
            <a:off x="4649465" y="2187922"/>
            <a:ext cx="279053" cy="279053"/>
          </a:xfrm>
          <a:prstGeom prst="roundRect">
            <a:avLst>
              <a:gd name="adj" fmla="val 18670"/>
            </a:avLst>
          </a:prstGeom>
          <a:solidFill>
            <a:srgbClr val="DFECE9"/>
          </a:solidFill>
          <a:ln w="4763">
            <a:solidFill>
              <a:srgbClr val="C5D2CF"/>
            </a:solidFill>
            <a:prstDash val="solid"/>
          </a:ln>
        </p:spPr>
      </p:sp>
      <p:sp>
        <p:nvSpPr>
          <p:cNvPr id="8" name="Text 6"/>
          <p:cNvSpPr/>
          <p:nvPr/>
        </p:nvSpPr>
        <p:spPr>
          <a:xfrm>
            <a:off x="5052492" y="2230562"/>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2C3249"/>
                </a:solidFill>
                <a:latin typeface="Kanit Light" pitchFamily="34" charset="0"/>
                <a:ea typeface="Kanit Light" pitchFamily="34" charset="-122"/>
                <a:cs typeface="Kanit Light" pitchFamily="34" charset="-120"/>
              </a:rPr>
              <a:t>Security hardening</a:t>
            </a:r>
            <a:endParaRPr lang="en-US" sz="1200" dirty="0"/>
          </a:p>
        </p:txBody>
      </p:sp>
      <p:sp>
        <p:nvSpPr>
          <p:cNvPr id="9" name="Text 7"/>
          <p:cNvSpPr/>
          <p:nvPr/>
        </p:nvSpPr>
        <p:spPr>
          <a:xfrm>
            <a:off x="5052492" y="2498824"/>
            <a:ext cx="3595390"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C3249"/>
                </a:solidFill>
                <a:latin typeface="Martel Sans" pitchFamily="34" charset="0"/>
                <a:ea typeface="Martel Sans" pitchFamily="34" charset="-122"/>
                <a:cs typeface="Martel Sans" pitchFamily="34" charset="-120"/>
              </a:rPr>
              <a:t>Rate limits for OTP (max 5 wrong attempts), hashed reset tokens with 15‑minute expiry, CSP and input sanitation.</a:t>
            </a:r>
            <a:endParaRPr lang="en-US" sz="950" dirty="0"/>
          </a:p>
        </p:txBody>
      </p:sp>
      <p:sp>
        <p:nvSpPr>
          <p:cNvPr id="10" name="Shape 8"/>
          <p:cNvSpPr/>
          <p:nvPr/>
        </p:nvSpPr>
        <p:spPr>
          <a:xfrm>
            <a:off x="496119" y="3143771"/>
            <a:ext cx="279053" cy="279053"/>
          </a:xfrm>
          <a:prstGeom prst="roundRect">
            <a:avLst>
              <a:gd name="adj" fmla="val 18670"/>
            </a:avLst>
          </a:prstGeom>
          <a:solidFill>
            <a:srgbClr val="DFECE9"/>
          </a:solidFill>
          <a:ln w="4763">
            <a:solidFill>
              <a:srgbClr val="C5D2CF"/>
            </a:solidFill>
            <a:prstDash val="solid"/>
          </a:ln>
        </p:spPr>
      </p:sp>
      <p:sp>
        <p:nvSpPr>
          <p:cNvPr id="11" name="Text 9"/>
          <p:cNvSpPr/>
          <p:nvPr/>
        </p:nvSpPr>
        <p:spPr>
          <a:xfrm>
            <a:off x="899145" y="3186410"/>
            <a:ext cx="1671935" cy="193849"/>
          </a:xfrm>
          <a:prstGeom prst="rect">
            <a:avLst/>
          </a:prstGeom>
          <a:noFill/>
          <a:ln/>
        </p:spPr>
        <p:txBody>
          <a:bodyPr wrap="none" lIns="0" tIns="0" rIns="0" bIns="0" rtlCol="0" anchor="t"/>
          <a:lstStyle/>
          <a:p>
            <a:pPr marL="0" indent="0" algn="l">
              <a:lnSpc>
                <a:spcPct val="104000"/>
              </a:lnSpc>
              <a:buNone/>
            </a:pPr>
            <a:r>
              <a:rPr lang="en-US" sz="1200" dirty="0">
                <a:solidFill>
                  <a:srgbClr val="2C3249"/>
                </a:solidFill>
                <a:latin typeface="Kanit Light" pitchFamily="34" charset="0"/>
                <a:ea typeface="Kanit Light" pitchFamily="34" charset="-122"/>
                <a:cs typeface="Kanit Light" pitchFamily="34" charset="-120"/>
              </a:rPr>
              <a:t>Concurrency &amp; reliability</a:t>
            </a:r>
            <a:endParaRPr lang="en-US" sz="1200" dirty="0"/>
          </a:p>
        </p:txBody>
      </p:sp>
      <p:sp>
        <p:nvSpPr>
          <p:cNvPr id="12" name="Text 10"/>
          <p:cNvSpPr/>
          <p:nvPr/>
        </p:nvSpPr>
        <p:spPr>
          <a:xfrm>
            <a:off x="899145" y="3454673"/>
            <a:ext cx="3595315"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C3249"/>
                </a:solidFill>
                <a:latin typeface="Martel Sans" pitchFamily="34" charset="0"/>
                <a:ea typeface="Martel Sans" pitchFamily="34" charset="-122"/>
                <a:cs typeface="Martel Sans" pitchFamily="34" charset="-120"/>
              </a:rPr>
              <a:t>Atomic seat booking to prevent race conditions; pagination and efficient filtering for event listings (up to 50 results/page).</a:t>
            </a:r>
            <a:endParaRPr lang="en-US" sz="950" dirty="0"/>
          </a:p>
        </p:txBody>
      </p:sp>
      <p:sp>
        <p:nvSpPr>
          <p:cNvPr id="13" name="Shape 11"/>
          <p:cNvSpPr/>
          <p:nvPr/>
        </p:nvSpPr>
        <p:spPr>
          <a:xfrm>
            <a:off x="4649465" y="3143771"/>
            <a:ext cx="279053" cy="279053"/>
          </a:xfrm>
          <a:prstGeom prst="roundRect">
            <a:avLst>
              <a:gd name="adj" fmla="val 18670"/>
            </a:avLst>
          </a:prstGeom>
          <a:solidFill>
            <a:srgbClr val="DFECE9"/>
          </a:solidFill>
          <a:ln w="4763">
            <a:solidFill>
              <a:srgbClr val="C5D2CF"/>
            </a:solidFill>
            <a:prstDash val="solid"/>
          </a:ln>
        </p:spPr>
      </p:sp>
      <p:sp>
        <p:nvSpPr>
          <p:cNvPr id="14" name="Text 12"/>
          <p:cNvSpPr/>
          <p:nvPr/>
        </p:nvSpPr>
        <p:spPr>
          <a:xfrm>
            <a:off x="5052492" y="3186410"/>
            <a:ext cx="1595810" cy="193849"/>
          </a:xfrm>
          <a:prstGeom prst="rect">
            <a:avLst/>
          </a:prstGeom>
          <a:noFill/>
          <a:ln/>
        </p:spPr>
        <p:txBody>
          <a:bodyPr wrap="none" lIns="0" tIns="0" rIns="0" bIns="0" rtlCol="0" anchor="t"/>
          <a:lstStyle/>
          <a:p>
            <a:pPr marL="0" indent="0" algn="l">
              <a:lnSpc>
                <a:spcPct val="104000"/>
              </a:lnSpc>
              <a:buNone/>
            </a:pPr>
            <a:r>
              <a:rPr lang="en-US" sz="1200" dirty="0">
                <a:solidFill>
                  <a:srgbClr val="2C3249"/>
                </a:solidFill>
                <a:latin typeface="Kanit Light" pitchFamily="34" charset="0"/>
                <a:ea typeface="Kanit Light" pitchFamily="34" charset="-122"/>
                <a:cs typeface="Kanit Light" pitchFamily="34" charset="-120"/>
              </a:rPr>
              <a:t>Operational integration</a:t>
            </a:r>
            <a:endParaRPr lang="en-US" sz="1200" dirty="0"/>
          </a:p>
        </p:txBody>
      </p:sp>
      <p:sp>
        <p:nvSpPr>
          <p:cNvPr id="15" name="Text 13"/>
          <p:cNvSpPr/>
          <p:nvPr/>
        </p:nvSpPr>
        <p:spPr>
          <a:xfrm>
            <a:off x="5052492" y="3454673"/>
            <a:ext cx="3595390"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C3249"/>
                </a:solidFill>
                <a:latin typeface="Martel Sans" pitchFamily="34" charset="0"/>
                <a:ea typeface="Martel Sans" pitchFamily="34" charset="-122"/>
                <a:cs typeface="Martel Sans" pitchFamily="34" charset="-120"/>
              </a:rPr>
              <a:t>Brevo REST API allows reliable email delivery on Railway without SMTP; QR verification endpoint available for venue checks.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841102"/>
            <a:ext cx="3839766" cy="310083"/>
          </a:xfrm>
          <a:prstGeom prst="rect">
            <a:avLst/>
          </a:prstGeom>
          <a:noFill/>
          <a:ln/>
        </p:spPr>
        <p:txBody>
          <a:bodyPr wrap="none" lIns="0" tIns="0" rIns="0" bIns="0" rtlCol="0" anchor="t"/>
          <a:lstStyle/>
          <a:p>
            <a:pPr marL="0" indent="0" algn="l">
              <a:lnSpc>
                <a:spcPct val="104000"/>
              </a:lnSpc>
              <a:buNone/>
            </a:pPr>
            <a:r>
              <a:rPr lang="en-US" sz="1950" dirty="0">
                <a:solidFill>
                  <a:srgbClr val="272D45"/>
                </a:solidFill>
                <a:latin typeface="Kanit Light" pitchFamily="34" charset="0"/>
                <a:ea typeface="Kanit Light" pitchFamily="34" charset="-122"/>
                <a:cs typeface="Kanit Light" pitchFamily="34" charset="-120"/>
              </a:rPr>
              <a:t>Repository &amp; Closing Summary</a:t>
            </a:r>
            <a:endParaRPr lang="en-US" sz="1950" dirty="0"/>
          </a:p>
        </p:txBody>
      </p:sp>
      <p:sp>
        <p:nvSpPr>
          <p:cNvPr id="3" name="Text 1"/>
          <p:cNvSpPr/>
          <p:nvPr/>
        </p:nvSpPr>
        <p:spPr>
          <a:xfrm>
            <a:off x="496119" y="1399208"/>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C3249"/>
                </a:solidFill>
                <a:latin typeface="Martel Sans" pitchFamily="34" charset="0"/>
                <a:ea typeface="Martel Sans" pitchFamily="34" charset="-122"/>
                <a:cs typeface="Martel Sans" pitchFamily="34" charset="-120"/>
              </a:rPr>
              <a:t> Project repository: </a:t>
            </a:r>
            <a:r>
              <a:rPr lang="en-US" sz="950" u="sng" dirty="0">
                <a:solidFill>
                  <a:srgbClr val="437066"/>
                </a:solidFill>
                <a:latin typeface="Martel Sans" pitchFamily="34" charset="0"/>
                <a:ea typeface="Martel Sans" pitchFamily="34" charset="-122"/>
                <a:cs typeface="Martel Sans" pitchFamily="34" charset="-120"/>
                <a:hlinkClick r:id="rId3">
                  <a:extLst>
                    <a:ext uri="{A12FA001-AC4F-418D-AE19-62706E023703}">
                      <ahyp:hlinkClr xmlns:ahyp="http://schemas.microsoft.com/office/drawing/2018/hyperlinkcolor" val="tx"/>
                    </a:ext>
                  </a:extLst>
                </a:hlinkClick>
              </a:rPr>
              <a:t>github.com/Ussefemad1/eventapp</a:t>
            </a:r>
            <a:r>
              <a:rPr lang="en-US" sz="950" dirty="0">
                <a:solidFill>
                  <a:srgbClr val="2C3249"/>
                </a:solidFill>
                <a:latin typeface="Martel Sans" pitchFamily="34" charset="0"/>
                <a:ea typeface="Martel Sans" pitchFamily="34" charset="-122"/>
                <a:cs typeface="Martel Sans" pitchFamily="34" charset="-120"/>
              </a:rPr>
              <a:t> (branch: main). The codebase contains the API routes, Mongoose models, middleware, static frontend assets and deployment scripts. </a:t>
            </a:r>
            <a:endParaRPr lang="en-US" sz="950" dirty="0"/>
          </a:p>
        </p:txBody>
      </p:sp>
      <p:sp>
        <p:nvSpPr>
          <p:cNvPr id="4" name="Shape 2"/>
          <p:cNvSpPr/>
          <p:nvPr/>
        </p:nvSpPr>
        <p:spPr>
          <a:xfrm>
            <a:off x="496119" y="1935659"/>
            <a:ext cx="279053" cy="279053"/>
          </a:xfrm>
          <a:prstGeom prst="roundRect">
            <a:avLst>
              <a:gd name="adj" fmla="val 18670"/>
            </a:avLst>
          </a:prstGeom>
          <a:solidFill>
            <a:srgbClr val="DFECE9"/>
          </a:solidFill>
          <a:ln w="4763">
            <a:solidFill>
              <a:srgbClr val="C5D2CF"/>
            </a:solidFill>
            <a:prstDash val="solid"/>
          </a:ln>
        </p:spPr>
      </p:sp>
      <p:sp>
        <p:nvSpPr>
          <p:cNvPr id="5" name="Text 3"/>
          <p:cNvSpPr/>
          <p:nvPr/>
        </p:nvSpPr>
        <p:spPr>
          <a:xfrm>
            <a:off x="542627" y="1958913"/>
            <a:ext cx="186035" cy="232544"/>
          </a:xfrm>
          <a:prstGeom prst="rect">
            <a:avLst/>
          </a:prstGeom>
          <a:noFill/>
          <a:ln/>
        </p:spPr>
        <p:txBody>
          <a:bodyPr wrap="none" lIns="0" tIns="0" rIns="0" bIns="0" rtlCol="0" anchor="ctr"/>
          <a:lstStyle/>
          <a:p>
            <a:pPr marL="0" indent="0" algn="ctr">
              <a:lnSpc>
                <a:spcPct val="100000"/>
              </a:lnSpc>
              <a:buNone/>
            </a:pPr>
            <a:r>
              <a:rPr lang="en-US" sz="1450" dirty="0">
                <a:solidFill>
                  <a:srgbClr val="2C3249"/>
                </a:solidFill>
                <a:latin typeface="Kanit Light" pitchFamily="34" charset="0"/>
                <a:ea typeface="Kanit Light" pitchFamily="34" charset="-122"/>
                <a:cs typeface="Kanit Light" pitchFamily="34" charset="-120"/>
              </a:rPr>
              <a:t>1</a:t>
            </a:r>
            <a:endParaRPr lang="en-US" sz="1450" dirty="0"/>
          </a:p>
        </p:txBody>
      </p:sp>
      <p:sp>
        <p:nvSpPr>
          <p:cNvPr id="6" name="Text 4"/>
          <p:cNvSpPr/>
          <p:nvPr/>
        </p:nvSpPr>
        <p:spPr>
          <a:xfrm>
            <a:off x="899145" y="1978298"/>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2C3249"/>
                </a:solidFill>
                <a:latin typeface="Kanit Light" pitchFamily="34" charset="0"/>
                <a:ea typeface="Kanit Light" pitchFamily="34" charset="-122"/>
                <a:cs typeface="Kanit Light" pitchFamily="34" charset="-120"/>
              </a:rPr>
              <a:t>Key folders</a:t>
            </a:r>
            <a:endParaRPr lang="en-US" sz="1200" dirty="0"/>
          </a:p>
        </p:txBody>
      </p:sp>
      <p:sp>
        <p:nvSpPr>
          <p:cNvPr id="7" name="Text 5"/>
          <p:cNvSpPr/>
          <p:nvPr/>
        </p:nvSpPr>
        <p:spPr>
          <a:xfrm>
            <a:off x="899145" y="2246561"/>
            <a:ext cx="2210842"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C3249"/>
                </a:solidFill>
                <a:latin typeface="Martel Sans" pitchFamily="34" charset="0"/>
                <a:ea typeface="Martel Sans" pitchFamily="34" charset="-122"/>
                <a:cs typeface="Martel Sans" pitchFamily="34" charset="-120"/>
              </a:rPr>
              <a:t>/routes · /models · /middleware · /public · /database</a:t>
            </a:r>
            <a:endParaRPr lang="en-US" sz="950" dirty="0"/>
          </a:p>
        </p:txBody>
      </p:sp>
      <p:sp>
        <p:nvSpPr>
          <p:cNvPr id="8" name="Shape 6"/>
          <p:cNvSpPr/>
          <p:nvPr/>
        </p:nvSpPr>
        <p:spPr>
          <a:xfrm>
            <a:off x="3264991" y="1935659"/>
            <a:ext cx="279053" cy="279053"/>
          </a:xfrm>
          <a:prstGeom prst="roundRect">
            <a:avLst>
              <a:gd name="adj" fmla="val 18670"/>
            </a:avLst>
          </a:prstGeom>
          <a:solidFill>
            <a:srgbClr val="DFECE9"/>
          </a:solidFill>
          <a:ln w="4763">
            <a:solidFill>
              <a:srgbClr val="C5D2CF"/>
            </a:solidFill>
            <a:prstDash val="solid"/>
          </a:ln>
        </p:spPr>
      </p:sp>
      <p:sp>
        <p:nvSpPr>
          <p:cNvPr id="9" name="Text 7"/>
          <p:cNvSpPr/>
          <p:nvPr/>
        </p:nvSpPr>
        <p:spPr>
          <a:xfrm>
            <a:off x="3311500" y="1958913"/>
            <a:ext cx="186035" cy="232544"/>
          </a:xfrm>
          <a:prstGeom prst="rect">
            <a:avLst/>
          </a:prstGeom>
          <a:noFill/>
          <a:ln/>
        </p:spPr>
        <p:txBody>
          <a:bodyPr wrap="none" lIns="0" tIns="0" rIns="0" bIns="0" rtlCol="0" anchor="ctr"/>
          <a:lstStyle/>
          <a:p>
            <a:pPr marL="0" indent="0" algn="ctr">
              <a:lnSpc>
                <a:spcPct val="100000"/>
              </a:lnSpc>
              <a:buNone/>
            </a:pPr>
            <a:r>
              <a:rPr lang="en-US" sz="1450" dirty="0">
                <a:solidFill>
                  <a:srgbClr val="2C3249"/>
                </a:solidFill>
                <a:latin typeface="Kanit Light" pitchFamily="34" charset="0"/>
                <a:ea typeface="Kanit Light" pitchFamily="34" charset="-122"/>
                <a:cs typeface="Kanit Light" pitchFamily="34" charset="-120"/>
              </a:rPr>
              <a:t>2</a:t>
            </a:r>
            <a:endParaRPr lang="en-US" sz="1450" dirty="0"/>
          </a:p>
        </p:txBody>
      </p:sp>
      <p:sp>
        <p:nvSpPr>
          <p:cNvPr id="10" name="Text 8"/>
          <p:cNvSpPr/>
          <p:nvPr/>
        </p:nvSpPr>
        <p:spPr>
          <a:xfrm>
            <a:off x="3668018" y="1978298"/>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2C3249"/>
                </a:solidFill>
                <a:latin typeface="Kanit Light" pitchFamily="34" charset="0"/>
                <a:ea typeface="Kanit Light" pitchFamily="34" charset="-122"/>
                <a:cs typeface="Kanit Light" pitchFamily="34" charset="-120"/>
              </a:rPr>
              <a:t>Commits</a:t>
            </a:r>
            <a:endParaRPr lang="en-US" sz="1200" dirty="0"/>
          </a:p>
        </p:txBody>
      </p:sp>
      <p:sp>
        <p:nvSpPr>
          <p:cNvPr id="11" name="Text 9"/>
          <p:cNvSpPr/>
          <p:nvPr/>
        </p:nvSpPr>
        <p:spPr>
          <a:xfrm>
            <a:off x="3668018" y="2246561"/>
            <a:ext cx="2210916"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C3249"/>
                </a:solidFill>
                <a:latin typeface="Martel Sans" pitchFamily="34" charset="0"/>
                <a:ea typeface="Martel Sans" pitchFamily="34" charset="-122"/>
                <a:cs typeface="Martel Sans" pitchFamily="34" charset="-120"/>
              </a:rPr>
              <a:t>Total commits: 31 — includes bugfixes, security hardening and feature additions.</a:t>
            </a:r>
            <a:endParaRPr lang="en-US" sz="950" dirty="0"/>
          </a:p>
        </p:txBody>
      </p:sp>
      <p:sp>
        <p:nvSpPr>
          <p:cNvPr id="12" name="Shape 10"/>
          <p:cNvSpPr/>
          <p:nvPr/>
        </p:nvSpPr>
        <p:spPr>
          <a:xfrm>
            <a:off x="6033939" y="1935659"/>
            <a:ext cx="279053" cy="279053"/>
          </a:xfrm>
          <a:prstGeom prst="roundRect">
            <a:avLst>
              <a:gd name="adj" fmla="val 18670"/>
            </a:avLst>
          </a:prstGeom>
          <a:solidFill>
            <a:srgbClr val="DFECE9"/>
          </a:solidFill>
          <a:ln w="4763">
            <a:solidFill>
              <a:srgbClr val="C5D2CF"/>
            </a:solidFill>
            <a:prstDash val="solid"/>
          </a:ln>
        </p:spPr>
      </p:sp>
      <p:sp>
        <p:nvSpPr>
          <p:cNvPr id="13" name="Text 11"/>
          <p:cNvSpPr/>
          <p:nvPr/>
        </p:nvSpPr>
        <p:spPr>
          <a:xfrm>
            <a:off x="6080447" y="1958913"/>
            <a:ext cx="186035" cy="232544"/>
          </a:xfrm>
          <a:prstGeom prst="rect">
            <a:avLst/>
          </a:prstGeom>
          <a:noFill/>
          <a:ln/>
        </p:spPr>
        <p:txBody>
          <a:bodyPr wrap="none" lIns="0" tIns="0" rIns="0" bIns="0" rtlCol="0" anchor="ctr"/>
          <a:lstStyle/>
          <a:p>
            <a:pPr marL="0" indent="0" algn="ctr">
              <a:lnSpc>
                <a:spcPct val="100000"/>
              </a:lnSpc>
              <a:buNone/>
            </a:pPr>
            <a:r>
              <a:rPr lang="en-US" sz="1450" dirty="0">
                <a:solidFill>
                  <a:srgbClr val="2C3249"/>
                </a:solidFill>
                <a:latin typeface="Kanit Light" pitchFamily="34" charset="0"/>
                <a:ea typeface="Kanit Light" pitchFamily="34" charset="-122"/>
                <a:cs typeface="Kanit Light" pitchFamily="34" charset="-120"/>
              </a:rPr>
              <a:t>3</a:t>
            </a:r>
            <a:endParaRPr lang="en-US" sz="1450" dirty="0"/>
          </a:p>
        </p:txBody>
      </p:sp>
      <p:sp>
        <p:nvSpPr>
          <p:cNvPr id="14" name="Text 12"/>
          <p:cNvSpPr/>
          <p:nvPr/>
        </p:nvSpPr>
        <p:spPr>
          <a:xfrm>
            <a:off x="6436965" y="1978298"/>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2C3249"/>
                </a:solidFill>
                <a:latin typeface="Kanit Light" pitchFamily="34" charset="0"/>
                <a:ea typeface="Kanit Light" pitchFamily="34" charset="-122"/>
                <a:cs typeface="Kanit Light" pitchFamily="34" charset="-120"/>
              </a:rPr>
              <a:t>Summary</a:t>
            </a:r>
            <a:endParaRPr lang="en-US" sz="1200" dirty="0"/>
          </a:p>
        </p:txBody>
      </p:sp>
      <p:sp>
        <p:nvSpPr>
          <p:cNvPr id="15" name="Text 13"/>
          <p:cNvSpPr/>
          <p:nvPr/>
        </p:nvSpPr>
        <p:spPr>
          <a:xfrm>
            <a:off x="6436965" y="2246561"/>
            <a:ext cx="2210916" cy="1389236"/>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C3249"/>
                </a:solidFill>
                <a:latin typeface="Martel Sans" pitchFamily="34" charset="0"/>
                <a:ea typeface="Martel Sans" pitchFamily="34" charset="-122"/>
                <a:cs typeface="Martel Sans" pitchFamily="34" charset="-120"/>
              </a:rPr>
              <a:t>Eventify is a secure, production‑ready platform built with Node.js, MongoDB and vanilla JavaScript — delivering OTP‑secured accounts, QR ticketing, automated emails and an admin dashboard for operational control.</a:t>
            </a:r>
            <a:endParaRPr lang="en-US" sz="950" dirty="0"/>
          </a:p>
        </p:txBody>
      </p:sp>
      <p:sp>
        <p:nvSpPr>
          <p:cNvPr id="16" name="Shape 14"/>
          <p:cNvSpPr/>
          <p:nvPr/>
        </p:nvSpPr>
        <p:spPr>
          <a:xfrm>
            <a:off x="496119" y="3775323"/>
            <a:ext cx="8151763" cy="527000"/>
          </a:xfrm>
          <a:prstGeom prst="roundRect">
            <a:avLst>
              <a:gd name="adj" fmla="val 9886"/>
            </a:avLst>
          </a:prstGeom>
          <a:solidFill>
            <a:srgbClr val="CFE2DE"/>
          </a:solidFill>
          <a:ln/>
        </p:spPr>
      </p:sp>
      <p:pic>
        <p:nvPicPr>
          <p:cNvPr id="17" name="Image 0" descr="preencoded.png"/>
          <p:cNvPicPr>
            <a:picLocks noChangeAspect="1"/>
          </p:cNvPicPr>
          <p:nvPr/>
        </p:nvPicPr>
        <p:blipFill>
          <a:blip r:embed="rId4"/>
          <a:stretch>
            <a:fillRect/>
          </a:stretch>
        </p:blipFill>
        <p:spPr>
          <a:xfrm>
            <a:off x="620092" y="3945582"/>
            <a:ext cx="155004" cy="123974"/>
          </a:xfrm>
          <a:prstGeom prst="rect">
            <a:avLst/>
          </a:prstGeom>
        </p:spPr>
      </p:pic>
      <p:sp>
        <p:nvSpPr>
          <p:cNvPr id="18" name="Text 15"/>
          <p:cNvSpPr/>
          <p:nvPr/>
        </p:nvSpPr>
        <p:spPr>
          <a:xfrm>
            <a:off x="899071" y="3930253"/>
            <a:ext cx="8082037" cy="198462"/>
          </a:xfrm>
          <a:prstGeom prst="rect">
            <a:avLst/>
          </a:prstGeom>
          <a:noFill/>
          <a:ln/>
        </p:spPr>
        <p:txBody>
          <a:bodyPr wrap="none" lIns="0" tIns="0" rIns="0" bIns="0" rtlCol="0" anchor="t"/>
          <a:lstStyle/>
          <a:p>
            <a:pPr marL="0" indent="0" algn="l">
              <a:lnSpc>
                <a:spcPct val="133000"/>
              </a:lnSpc>
              <a:buNone/>
            </a:pPr>
            <a:r>
              <a:rPr lang="en-US" sz="950" dirty="0">
                <a:solidFill>
                  <a:srgbClr val="000000"/>
                </a:solidFill>
                <a:latin typeface="Martel Sans" pitchFamily="34" charset="0"/>
                <a:ea typeface="Martel Sans" pitchFamily="34" charset="-122"/>
                <a:cs typeface="Martel Sans" pitchFamily="34" charset="-120"/>
              </a:rPr>
              <a:t>Next steps: Payment Gateway integration, Ratings and Reviews, Notification system .</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4369F-A194-432A-BA2A-CC2589F5FF6E}"/>
              </a:ext>
            </a:extLst>
          </p:cNvPr>
          <p:cNvSpPr>
            <a:spLocks noGrp="1"/>
          </p:cNvSpPr>
          <p:nvPr>
            <p:ph type="ctrTitle"/>
          </p:nvPr>
        </p:nvSpPr>
        <p:spPr>
          <a:xfrm>
            <a:off x="72599" y="1666922"/>
            <a:ext cx="5825202" cy="1234727"/>
          </a:xfrm>
        </p:spPr>
        <p:txBody>
          <a:bodyPr/>
          <a:lstStyle/>
          <a:p>
            <a:r>
              <a:rPr lang="en-US" dirty="0"/>
              <a:t>Thank you </a:t>
            </a:r>
          </a:p>
        </p:txBody>
      </p:sp>
      <p:sp>
        <p:nvSpPr>
          <p:cNvPr id="3" name="Subtitle 2">
            <a:extLst>
              <a:ext uri="{FF2B5EF4-FFF2-40B4-BE49-F238E27FC236}">
                <a16:creationId xmlns:a16="http://schemas.microsoft.com/office/drawing/2014/main" id="{AF871FBE-89CD-48C9-9FCB-724E82B61448}"/>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88729212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34</TotalTime>
  <Words>1262</Words>
  <Application>Microsoft Office PowerPoint</Application>
  <PresentationFormat>On-screen Show (16:9)</PresentationFormat>
  <Paragraphs>129</Paragraphs>
  <Slides>11</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Trebuchet MS</vt:lpstr>
      <vt:lpstr>Arial</vt:lpstr>
      <vt:lpstr>Kanit Light</vt:lpstr>
      <vt:lpstr>Wingdings 3</vt:lpstr>
      <vt:lpstr>Martel Sans</vt:lpstr>
      <vt:lpstr>Calibri</vt:lpstr>
      <vt:lpstr>Facet</vt:lpstr>
      <vt:lpstr>Eventify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Eventify</dc:title>
  <dc:subject/>
  <dc:creator/>
  <cp:lastModifiedBy>Mohamed Tamer</cp:lastModifiedBy>
  <cp:revision>2</cp:revision>
  <dcterms:created xsi:type="dcterms:W3CDTF">2026-06-02T10:25:21Z</dcterms:created>
  <dcterms:modified xsi:type="dcterms:W3CDTF">2026-06-02T11:00:18Z</dcterms:modified>
</cp:coreProperties>
</file>